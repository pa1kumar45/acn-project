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51435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CEAFEF-23FE-47EF-A129-902EB700DEFB}">
  <a:tblStyle styleId="{4ACEAFEF-23FE-47EF-A129-902EB700DE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by explaining that 5G uses a Service-Based Architecture: the 5G Core is broken into small Network Functions such as AMF, SMF, UPF and AUSF, and they talk to each other with service requests. In our work these requests use gRPC. The problem: when many requests arrive, one instance of a Network Function can become overloaded. Load balancing solves this by sharing requests across several instances. The diagram at the bottom shows the basic flow: RAN simulator sends traffic to AMF, which goes through a load balancer to multiple service instances and then to UPF and Sink. Keep it to about 1.5 minutes.</a:t>
            </a:r>
            <a:endParaRPr/>
          </a:p>
        </p:txBody>
      </p:sp>
      <p:sp>
        <p:nvSpPr>
          <p:cNvPr id="138" name="Google Shape;13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145b8564f9d7f2db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h145b8564f9d7f2db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by explaining that 5G uses a Service-Based Architecture: the 5G Core is broken into small Network Functions such as AMF, SMF, UPF and AUSF, and they talk to each other with service requests. In our work these requests use gRPC. The problem: when many requests arrive, one instance of a Network Function can become overloaded. Load balancing solves this by sharing requests across several instances. The diagram at the bottom shows the basic flow: RAN simulator sends traffic to AMF, which goes through a load balancer to multiple service instances and then to UPF and Sink. Keep it to about 1.5 minutes.</a:t>
            </a:r>
            <a:endParaRPr/>
          </a:p>
        </p:txBody>
      </p:sp>
      <p:sp>
        <p:nvSpPr>
          <p:cNvPr id="147" name="Google Shape;147;h145b8564f9d7f2db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summarises the four building blocks we rely on. The SBA-gRPC-5G repository from IITH NewsLab gives us a working software 5G Core where NFs communicate using gRPC. The 3GPP service-based architecture explains why the core is split into independent NFs. gRPC gives efficient communication between them, and load balancing in distributed systems is the general technique for sharing requests across instances. Stress the bottom box: the repository is our foundation, but our contribution is the experimental comparison of load-balancing approaches.</a:t>
            </a:r>
            <a:endParaRPr/>
          </a:p>
        </p:txBody>
      </p:sp>
      <p:sp>
        <p:nvSpPr>
          <p:cNvPr id="190" name="Google Shape;19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or paraphrase the problem statement. Then use the two rows to show the idea. Top row: without load balancing, many requests hit one instance, it becomes overloaded, and latency rises. Bottom row: with a load balancer, requests are spread across several instances. Be careful to say this is the motivation for the study; we are not claiming any approach is already proven better. That is exactly what our experiments will investigate.</a:t>
            </a:r>
            <a:endParaRPr/>
          </a:p>
        </p:txBody>
      </p:sp>
      <p:sp>
        <p:nvSpPr>
          <p:cNvPr id="197" name="Google Shape;19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five objectives quickly. One: build the software 5G Core with SBA and gRPC using the open-source base. Two: run multiple instances of selected NFs. Three: implement different load-balancing approaches: Round Robin, Random and Least-load. Four: define what we measure. Five: compare results and analyse the effect. Emphasise that objectives three to five are the real contribution, not just reproducing the existing implementation.</a:t>
            </a:r>
            <a:endParaRPr/>
          </a:p>
        </p:txBody>
      </p:sp>
      <p:sp>
        <p:nvSpPr>
          <p:cNvPr id="234" name="Google Shape;2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main slide. The top diagram shows the proposed architecture: the RAN simulator sends traffic to AMF, which forwards requests through a load balancer to multiple instances of a selected Network Function, then on to UPF and Sink. Below are five steps: build the environment with Docker, deploy the NFs, create multiple instances, apply the three load-balancing algorithms, and measure performance. Stress that traffic conditions are kept controlled so the load-balancing method is the main variable. The tools at the bottom are proposed; nothing here has been run yet.</a:t>
            </a:r>
            <a:endParaRPr/>
          </a:p>
        </p:txBody>
      </p:sp>
      <p:sp>
        <p:nvSpPr>
          <p:cNvPr id="255" name="Google Shape;2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is the planned comparison. Every cell says "To be measured" because we have not run the experiments yet and we do not want to present any invented numbers. For each load-balancing approach we will record request distribution across instances, latency, throughput, CPU and memory usage. The three boxes below explain fairness: the same traffic, hardware and number of instances for every run, with only the load-balancing method changing.</a:t>
            </a:r>
            <a:endParaRPr/>
          </a:p>
        </p:txBody>
      </p:sp>
      <p:sp>
        <p:nvSpPr>
          <p:cNvPr id="313" name="Google Shape;3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Summarise: we propose a software 5G Core with SBA and gRPC, deploy multiple instances of selected NFs, and evaluate several load-balancing approaches. We will compare them using throughput, latency, request loss, CPU, memory and request distribution. Make clear that we are not declaring any algorithm the winner; conclusions will come from measurements. Finish by reading the closing line: the project combines 5G Core networking, service-based communication, distributed systems and performance evaluation.</a:t>
            </a:r>
            <a:endParaRPr/>
          </a:p>
        </p:txBody>
      </p:sp>
      <p:sp>
        <p:nvSpPr>
          <p:cNvPr id="330" name="Google Shape;33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sources the project is built on: the IITH NewsLab repository, the two 3GPP specifications for the 5G system architecture and procedures, the official gRPC documentation, and the Open5GS project. Invite questions.</a:t>
            </a:r>
            <a:endParaRPr/>
          </a:p>
        </p:txBody>
      </p:sp>
      <p:sp>
        <p:nvSpPr>
          <p:cNvPr id="362" name="Google Shape;3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p2"/>
          <p:cNvGrpSpPr/>
          <p:nvPr/>
        </p:nvGrpSpPr>
        <p:grpSpPr>
          <a:xfrm>
            <a:off x="0" y="490"/>
            <a:ext cx="5153705" cy="5134399"/>
            <a:chOff x="0" y="75"/>
            <a:chExt cx="5153705" cy="5152950"/>
          </a:xfrm>
        </p:grpSpPr>
        <p:sp>
          <p:nvSpPr>
            <p:cNvPr id="16" name="Google Shape;16;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Google Shape;20;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1" name="Google Shape;21;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22" name="Google Shape;2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grpSp>
        <p:nvGrpSpPr>
          <p:cNvPr id="24" name="Google Shape;24;p3"/>
          <p:cNvGrpSpPr/>
          <p:nvPr/>
        </p:nvGrpSpPr>
        <p:grpSpPr>
          <a:xfrm>
            <a:off x="4406400" y="0"/>
            <a:ext cx="4737600" cy="5143065"/>
            <a:chOff x="4406400" y="0"/>
            <a:chExt cx="4737600" cy="5143065"/>
          </a:xfrm>
        </p:grpSpPr>
        <p:sp>
          <p:nvSpPr>
            <p:cNvPr id="25" name="Google Shape;25;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 name="Google Shape;4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grpSp>
        <p:nvGrpSpPr>
          <p:cNvPr id="53" name="Google Shape;53;p5"/>
          <p:cNvGrpSpPr/>
          <p:nvPr/>
        </p:nvGrpSpPr>
        <p:grpSpPr>
          <a:xfrm>
            <a:off x="0" y="381001"/>
            <a:ext cx="1037850" cy="1016287"/>
            <a:chOff x="0" y="381001"/>
            <a:chExt cx="1037850" cy="1016287"/>
          </a:xfrm>
        </p:grpSpPr>
        <p:sp>
          <p:nvSpPr>
            <p:cNvPr id="54" name="Google Shape;54;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 name="Google Shape;57;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 name="Google Shape;5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grpSp>
        <p:nvGrpSpPr>
          <p:cNvPr id="61" name="Google Shape;61;p6"/>
          <p:cNvGrpSpPr/>
          <p:nvPr/>
        </p:nvGrpSpPr>
        <p:grpSpPr>
          <a:xfrm>
            <a:off x="0" y="381001"/>
            <a:ext cx="1037850" cy="1016287"/>
            <a:chOff x="0" y="381001"/>
            <a:chExt cx="1037850" cy="1016287"/>
          </a:xfrm>
        </p:grpSpPr>
        <p:sp>
          <p:nvSpPr>
            <p:cNvPr id="62" name="Google Shape;62;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5" name="Google Shape;6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grpSp>
        <p:nvGrpSpPr>
          <p:cNvPr id="67" name="Google Shape;67;p7"/>
          <p:cNvGrpSpPr/>
          <p:nvPr/>
        </p:nvGrpSpPr>
        <p:grpSpPr>
          <a:xfrm>
            <a:off x="0" y="381001"/>
            <a:ext cx="1037850" cy="1016287"/>
            <a:chOff x="0" y="381001"/>
            <a:chExt cx="1037850" cy="1016287"/>
          </a:xfrm>
        </p:grpSpPr>
        <p:sp>
          <p:nvSpPr>
            <p:cNvPr id="68" name="Google Shape;68;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 name="Google Shape;71;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2" name="Google Shape;7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grpSp>
        <p:nvGrpSpPr>
          <p:cNvPr id="74" name="Google Shape;74;p8"/>
          <p:cNvGrpSpPr/>
          <p:nvPr/>
        </p:nvGrpSpPr>
        <p:grpSpPr>
          <a:xfrm>
            <a:off x="4406400" y="0"/>
            <a:ext cx="4737600" cy="5143500"/>
            <a:chOff x="4406400" y="0"/>
            <a:chExt cx="4737600" cy="5143500"/>
          </a:xfrm>
        </p:grpSpPr>
        <p:sp>
          <p:nvSpPr>
            <p:cNvPr id="75" name="Google Shape;75;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 name="Google Shape;9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grpSp>
        <p:nvGrpSpPr>
          <p:cNvPr id="96" name="Google Shape;96;p9"/>
          <p:cNvGrpSpPr/>
          <p:nvPr/>
        </p:nvGrpSpPr>
        <p:grpSpPr>
          <a:xfrm>
            <a:off x="0" y="381001"/>
            <a:ext cx="1037850" cy="1016287"/>
            <a:chOff x="0" y="381001"/>
            <a:chExt cx="1037850" cy="1016287"/>
          </a:xfrm>
        </p:grpSpPr>
        <p:sp>
          <p:nvSpPr>
            <p:cNvPr id="97" name="Google Shape;97;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0" name="Google Shape;100;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01" name="Google Shape;101;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grpSp>
        <p:nvGrpSpPr>
          <p:cNvPr id="104" name="Google Shape;104;p10"/>
          <p:cNvGrpSpPr/>
          <p:nvPr/>
        </p:nvGrpSpPr>
        <p:grpSpPr>
          <a:xfrm>
            <a:off x="0" y="4128572"/>
            <a:ext cx="698925" cy="684657"/>
            <a:chOff x="0" y="3785672"/>
            <a:chExt cx="698925" cy="684657"/>
          </a:xfrm>
        </p:grpSpPr>
        <p:sp>
          <p:nvSpPr>
            <p:cNvPr id="105" name="Google Shape;105;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grpSp>
        <p:nvGrpSpPr>
          <p:cNvPr id="110" name="Google Shape;110;p11"/>
          <p:cNvGrpSpPr/>
          <p:nvPr/>
        </p:nvGrpSpPr>
        <p:grpSpPr>
          <a:xfrm>
            <a:off x="4406400" y="0"/>
            <a:ext cx="4737600" cy="5143065"/>
            <a:chOff x="4406400" y="0"/>
            <a:chExt cx="4737600" cy="5143065"/>
          </a:xfrm>
        </p:grpSpPr>
        <p:sp>
          <p:nvSpPr>
            <p:cNvPr id="111" name="Google Shape;111;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0" name="Google Shape;130;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1" name="Google Shape;13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4" name="Shape 1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F44"/>
        </a:solidFill>
      </p:bgPr>
    </p:bg>
    <p:spTree>
      <p:nvGrpSpPr>
        <p:cNvPr id="139" name="Shape 139"/>
        <p:cNvGrpSpPr/>
        <p:nvPr/>
      </p:nvGrpSpPr>
      <p:grpSpPr>
        <a:xfrm>
          <a:off x="0" y="0"/>
          <a:ext cx="0" cy="0"/>
          <a:chOff x="0" y="0"/>
          <a:chExt cx="0" cy="0"/>
        </a:xfrm>
      </p:grpSpPr>
      <p:sp>
        <p:nvSpPr>
          <p:cNvPr id="140" name="Google Shape;140;p14"/>
          <p:cNvSpPr txBox="1"/>
          <p:nvPr/>
        </p:nvSpPr>
        <p:spPr>
          <a:xfrm>
            <a:off x="457200" y="816449"/>
            <a:ext cx="8229600" cy="93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1200"/>
              <a:buFont typeface="Calibri"/>
              <a:buNone/>
            </a:pPr>
            <a:r>
              <a:t/>
            </a:r>
            <a:endParaRPr b="0" i="0" sz="3000" u="none" cap="none" strike="noStrike">
              <a:solidFill>
                <a:schemeClr val="dk1"/>
              </a:solidFill>
              <a:latin typeface="Calibri"/>
              <a:ea typeface="Calibri"/>
              <a:cs typeface="Calibri"/>
              <a:sym typeface="Calibri"/>
            </a:endParaRPr>
          </a:p>
        </p:txBody>
      </p:sp>
      <p:sp>
        <p:nvSpPr>
          <p:cNvPr id="141" name="Google Shape;141;p14"/>
          <p:cNvSpPr txBox="1"/>
          <p:nvPr/>
        </p:nvSpPr>
        <p:spPr>
          <a:xfrm>
            <a:off x="3537150" y="3157300"/>
            <a:ext cx="5482800" cy="69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i="1" lang="en-US" sz="1300">
                <a:solidFill>
                  <a:schemeClr val="lt1"/>
                </a:solidFill>
              </a:rPr>
              <a:t>Advanced Computer Networks: Course Project</a:t>
            </a:r>
            <a:endParaRPr i="1" sz="1300">
              <a:solidFill>
                <a:schemeClr val="lt1"/>
              </a:solidFill>
            </a:endParaRPr>
          </a:p>
          <a:p>
            <a:pPr indent="0" lvl="0" marL="0" rtl="0" algn="l">
              <a:lnSpc>
                <a:spcPct val="115000"/>
              </a:lnSpc>
              <a:spcBef>
                <a:spcPts val="1200"/>
              </a:spcBef>
              <a:spcAft>
                <a:spcPts val="1200"/>
              </a:spcAft>
              <a:buNone/>
            </a:pPr>
            <a:r>
              <a:t/>
            </a:r>
            <a:endParaRPr i="1" sz="800">
              <a:solidFill>
                <a:schemeClr val="lt1"/>
              </a:solidFill>
            </a:endParaRPr>
          </a:p>
        </p:txBody>
      </p:sp>
      <p:sp>
        <p:nvSpPr>
          <p:cNvPr id="142" name="Google Shape;142;p14"/>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US" sz="3000">
                <a:solidFill>
                  <a:srgbClr val="29B6F6"/>
                </a:solidFill>
                <a:latin typeface="Calibri"/>
                <a:ea typeface="Calibri"/>
                <a:cs typeface="Calibri"/>
                <a:sym typeface="Calibri"/>
              </a:rPr>
              <a:t>Load Balancer for Replicated 5G Core Network Functions</a:t>
            </a:r>
            <a:endParaRPr i="1" sz="3000">
              <a:solidFill>
                <a:srgbClr val="29B6F6"/>
              </a:solidFill>
              <a:latin typeface="Calibri"/>
              <a:ea typeface="Calibri"/>
              <a:cs typeface="Calibri"/>
              <a:sym typeface="Calibri"/>
            </a:endParaRPr>
          </a:p>
        </p:txBody>
      </p:sp>
      <p:sp>
        <p:nvSpPr>
          <p:cNvPr id="143" name="Google Shape;143;p14"/>
          <p:cNvSpPr txBox="1"/>
          <p:nvPr>
            <p:ph idx="1" type="subTitle"/>
          </p:nvPr>
        </p:nvSpPr>
        <p:spPr>
          <a:xfrm>
            <a:off x="3537150" y="3849100"/>
            <a:ext cx="3470700" cy="890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n-US" sz="1275">
                <a:latin typeface="Arial"/>
                <a:ea typeface="Arial"/>
                <a:cs typeface="Arial"/>
                <a:sym typeface="Arial"/>
              </a:rPr>
              <a:t>Jaivant Kosaraju (231IT028) </a:t>
            </a:r>
            <a:endParaRPr sz="1275">
              <a:latin typeface="Arial"/>
              <a:ea typeface="Arial"/>
              <a:cs typeface="Arial"/>
              <a:sym typeface="Arial"/>
            </a:endParaRPr>
          </a:p>
          <a:p>
            <a:pPr indent="0" lvl="0" marL="0" rtl="0" algn="l">
              <a:lnSpc>
                <a:spcPct val="95000"/>
              </a:lnSpc>
              <a:spcBef>
                <a:spcPts val="0"/>
              </a:spcBef>
              <a:spcAft>
                <a:spcPts val="0"/>
              </a:spcAft>
              <a:buSzPts val="688"/>
              <a:buNone/>
            </a:pPr>
            <a:r>
              <a:rPr lang="en-US" sz="1275">
                <a:latin typeface="Arial"/>
                <a:ea typeface="Arial"/>
                <a:cs typeface="Arial"/>
                <a:sym typeface="Arial"/>
              </a:rPr>
              <a:t>Paluvadi Dinesh Manideep (231IT047) </a:t>
            </a:r>
            <a:endParaRPr sz="1275">
              <a:latin typeface="Arial"/>
              <a:ea typeface="Arial"/>
              <a:cs typeface="Arial"/>
              <a:sym typeface="Arial"/>
            </a:endParaRPr>
          </a:p>
          <a:p>
            <a:pPr indent="0" lvl="0" marL="0" rtl="0" algn="l">
              <a:lnSpc>
                <a:spcPct val="95000"/>
              </a:lnSpc>
              <a:spcBef>
                <a:spcPts val="0"/>
              </a:spcBef>
              <a:spcAft>
                <a:spcPts val="0"/>
              </a:spcAft>
              <a:buSzPts val="688"/>
              <a:buNone/>
            </a:pPr>
            <a:r>
              <a:rPr lang="en-US" sz="1275">
                <a:latin typeface="Arial"/>
                <a:ea typeface="Arial"/>
                <a:cs typeface="Arial"/>
                <a:sym typeface="Arial"/>
              </a:rPr>
              <a:t>Paluru Pavan Kumar (231IT046)</a:t>
            </a:r>
            <a:endParaRPr sz="1213"/>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F44"/>
        </a:solidFill>
      </p:bgPr>
    </p:bg>
    <p:spTree>
      <p:nvGrpSpPr>
        <p:cNvPr id="148" name="Shape 148"/>
        <p:cNvGrpSpPr/>
        <p:nvPr/>
      </p:nvGrpSpPr>
      <p:grpSpPr>
        <a:xfrm>
          <a:off x="0" y="0"/>
          <a:ext cx="0" cy="0"/>
          <a:chOff x="0" y="0"/>
          <a:chExt cx="0" cy="0"/>
        </a:xfrm>
      </p:grpSpPr>
      <p:sp>
        <p:nvSpPr>
          <p:cNvPr id="149" name="Google Shape;149;p15"/>
          <p:cNvSpPr txBox="1"/>
          <p:nvPr/>
        </p:nvSpPr>
        <p:spPr>
          <a:xfrm>
            <a:off x="457200" y="22860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Introduction</a:t>
            </a:r>
            <a:endParaRPr b="0" i="0" sz="3200" u="none" cap="none" strike="noStrike">
              <a:solidFill>
                <a:schemeClr val="dk1"/>
              </a:solidFill>
              <a:latin typeface="Calibri"/>
              <a:ea typeface="Calibri"/>
              <a:cs typeface="Calibri"/>
              <a:sym typeface="Calibri"/>
            </a:endParaRPr>
          </a:p>
        </p:txBody>
      </p:sp>
      <p:sp>
        <p:nvSpPr>
          <p:cNvPr id="150" name="Google Shape;150;p15"/>
          <p:cNvSpPr txBox="1"/>
          <p:nvPr/>
        </p:nvSpPr>
        <p:spPr>
          <a:xfrm>
            <a:off x="457200" y="77724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9B6F6"/>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51" name="Google Shape;151;p15"/>
          <p:cNvSpPr txBox="1"/>
          <p:nvPr/>
        </p:nvSpPr>
        <p:spPr>
          <a:xfrm>
            <a:off x="457200" y="1234440"/>
            <a:ext cx="4206300" cy="210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5G Core uses a Service-Based Architecture (SBA)</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Core is split into Network Functions (NFs)</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NFs communicate with each other using gRPC</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Many requests can overload one NF instance</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FFFF"/>
              </a:buClr>
              <a:buSzPts val="1400"/>
              <a:buFont typeface="Calibri"/>
              <a:buChar char="•"/>
            </a:pPr>
            <a:r>
              <a:rPr b="0" i="0" lang="en-US" sz="1400" u="none" cap="none" strike="noStrike">
                <a:solidFill>
                  <a:srgbClr val="FFFFFF"/>
                </a:solidFill>
                <a:latin typeface="Calibri"/>
                <a:ea typeface="Calibri"/>
                <a:cs typeface="Calibri"/>
                <a:sym typeface="Calibri"/>
              </a:rPr>
              <a:t>Load balancing spreads requests across multiple instances</a:t>
            </a:r>
            <a:endParaRPr b="0" i="0" sz="1400" u="none" cap="none" strike="noStrike">
              <a:solidFill>
                <a:schemeClr val="dk1"/>
              </a:solidFill>
              <a:latin typeface="Calibri"/>
              <a:ea typeface="Calibri"/>
              <a:cs typeface="Calibri"/>
              <a:sym typeface="Calibri"/>
            </a:endParaRPr>
          </a:p>
        </p:txBody>
      </p:sp>
      <p:sp>
        <p:nvSpPr>
          <p:cNvPr id="152" name="Google Shape;152;p15"/>
          <p:cNvSpPr/>
          <p:nvPr/>
        </p:nvSpPr>
        <p:spPr>
          <a:xfrm>
            <a:off x="5029200" y="123444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txBox="1"/>
          <p:nvPr/>
        </p:nvSpPr>
        <p:spPr>
          <a:xfrm>
            <a:off x="5029200" y="132588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AMF</a:t>
            </a:r>
            <a:endParaRPr b="0" i="0" sz="2000" u="none" cap="none" strike="noStrike">
              <a:solidFill>
                <a:schemeClr val="dk1"/>
              </a:solidFill>
              <a:latin typeface="Calibri"/>
              <a:ea typeface="Calibri"/>
              <a:cs typeface="Calibri"/>
              <a:sym typeface="Calibri"/>
            </a:endParaRPr>
          </a:p>
        </p:txBody>
      </p:sp>
      <p:sp>
        <p:nvSpPr>
          <p:cNvPr id="154" name="Google Shape;154;p15"/>
          <p:cNvSpPr txBox="1"/>
          <p:nvPr/>
        </p:nvSpPr>
        <p:spPr>
          <a:xfrm>
            <a:off x="5029200" y="173736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Access &amp; Mobility Mgmt</a:t>
            </a:r>
            <a:endParaRPr b="0" i="0" sz="1100" u="none" cap="none" strike="noStrike">
              <a:solidFill>
                <a:schemeClr val="dk1"/>
              </a:solidFill>
              <a:latin typeface="Calibri"/>
              <a:ea typeface="Calibri"/>
              <a:cs typeface="Calibri"/>
              <a:sym typeface="Calibri"/>
            </a:endParaRPr>
          </a:p>
        </p:txBody>
      </p:sp>
      <p:sp>
        <p:nvSpPr>
          <p:cNvPr id="155" name="Google Shape;155;p15"/>
          <p:cNvSpPr/>
          <p:nvPr/>
        </p:nvSpPr>
        <p:spPr>
          <a:xfrm>
            <a:off x="6903720" y="123444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txBox="1"/>
          <p:nvPr/>
        </p:nvSpPr>
        <p:spPr>
          <a:xfrm>
            <a:off x="6903720" y="132588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SMF</a:t>
            </a:r>
            <a:endParaRPr b="0" i="0" sz="2000" u="none" cap="none" strike="noStrike">
              <a:solidFill>
                <a:schemeClr val="dk1"/>
              </a:solidFill>
              <a:latin typeface="Calibri"/>
              <a:ea typeface="Calibri"/>
              <a:cs typeface="Calibri"/>
              <a:sym typeface="Calibri"/>
            </a:endParaRPr>
          </a:p>
        </p:txBody>
      </p:sp>
      <p:sp>
        <p:nvSpPr>
          <p:cNvPr id="157" name="Google Shape;157;p15"/>
          <p:cNvSpPr txBox="1"/>
          <p:nvPr/>
        </p:nvSpPr>
        <p:spPr>
          <a:xfrm>
            <a:off x="6903720" y="173736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Session Mgmt</a:t>
            </a:r>
            <a:endParaRPr b="0" i="0" sz="1100" u="none" cap="none" strike="noStrike">
              <a:solidFill>
                <a:schemeClr val="dk1"/>
              </a:solidFill>
              <a:latin typeface="Calibri"/>
              <a:ea typeface="Calibri"/>
              <a:cs typeface="Calibri"/>
              <a:sym typeface="Calibri"/>
            </a:endParaRPr>
          </a:p>
        </p:txBody>
      </p:sp>
      <p:sp>
        <p:nvSpPr>
          <p:cNvPr id="158" name="Google Shape;158;p15"/>
          <p:cNvSpPr/>
          <p:nvPr/>
        </p:nvSpPr>
        <p:spPr>
          <a:xfrm>
            <a:off x="5029200" y="233172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txBox="1"/>
          <p:nvPr/>
        </p:nvSpPr>
        <p:spPr>
          <a:xfrm>
            <a:off x="5029200" y="242316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UPF</a:t>
            </a:r>
            <a:endParaRPr b="0" i="0" sz="2000" u="none" cap="none" strike="noStrike">
              <a:solidFill>
                <a:schemeClr val="dk1"/>
              </a:solidFill>
              <a:latin typeface="Calibri"/>
              <a:ea typeface="Calibri"/>
              <a:cs typeface="Calibri"/>
              <a:sym typeface="Calibri"/>
            </a:endParaRPr>
          </a:p>
        </p:txBody>
      </p:sp>
      <p:sp>
        <p:nvSpPr>
          <p:cNvPr id="160" name="Google Shape;160;p15"/>
          <p:cNvSpPr txBox="1"/>
          <p:nvPr/>
        </p:nvSpPr>
        <p:spPr>
          <a:xfrm>
            <a:off x="5029200" y="283464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User Plane</a:t>
            </a:r>
            <a:endParaRPr b="0" i="0" sz="1100" u="none" cap="none" strike="noStrike">
              <a:solidFill>
                <a:schemeClr val="dk1"/>
              </a:solidFill>
              <a:latin typeface="Calibri"/>
              <a:ea typeface="Calibri"/>
              <a:cs typeface="Calibri"/>
              <a:sym typeface="Calibri"/>
            </a:endParaRPr>
          </a:p>
        </p:txBody>
      </p:sp>
      <p:sp>
        <p:nvSpPr>
          <p:cNvPr id="161" name="Google Shape;161;p15"/>
          <p:cNvSpPr/>
          <p:nvPr/>
        </p:nvSpPr>
        <p:spPr>
          <a:xfrm>
            <a:off x="6903720" y="2331720"/>
            <a:ext cx="1737300" cy="960000"/>
          </a:xfrm>
          <a:prstGeom prst="roundRect">
            <a:avLst>
              <a:gd fmla="val 7619"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txBox="1"/>
          <p:nvPr/>
        </p:nvSpPr>
        <p:spPr>
          <a:xfrm>
            <a:off x="6903720" y="2423160"/>
            <a:ext cx="1737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B6F6"/>
              </a:buClr>
              <a:buSzPts val="2000"/>
              <a:buFont typeface="Cambria"/>
              <a:buNone/>
            </a:pPr>
            <a:r>
              <a:rPr b="1" i="0" lang="en-US" sz="2000" u="none" cap="none" strike="noStrike">
                <a:solidFill>
                  <a:srgbClr val="29B6F6"/>
                </a:solidFill>
                <a:latin typeface="Cambria"/>
                <a:ea typeface="Cambria"/>
                <a:cs typeface="Cambria"/>
                <a:sym typeface="Cambria"/>
              </a:rPr>
              <a:t>AUSF</a:t>
            </a:r>
            <a:endParaRPr b="0" i="0" sz="2000" u="none" cap="none" strike="noStrike">
              <a:solidFill>
                <a:schemeClr val="dk1"/>
              </a:solidFill>
              <a:latin typeface="Calibri"/>
              <a:ea typeface="Calibri"/>
              <a:cs typeface="Calibri"/>
              <a:sym typeface="Calibri"/>
            </a:endParaRPr>
          </a:p>
        </p:txBody>
      </p:sp>
      <p:sp>
        <p:nvSpPr>
          <p:cNvPr id="163" name="Google Shape;163;p15"/>
          <p:cNvSpPr txBox="1"/>
          <p:nvPr/>
        </p:nvSpPr>
        <p:spPr>
          <a:xfrm>
            <a:off x="6903720" y="2834640"/>
            <a:ext cx="173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Authentication Server</a:t>
            </a:r>
            <a:endParaRPr b="0" i="0" sz="1100" u="none" cap="none" strike="noStrike">
              <a:solidFill>
                <a:schemeClr val="dk1"/>
              </a:solidFill>
              <a:latin typeface="Calibri"/>
              <a:ea typeface="Calibri"/>
              <a:cs typeface="Calibri"/>
              <a:sym typeface="Calibri"/>
            </a:endParaRPr>
          </a:p>
        </p:txBody>
      </p:sp>
      <p:sp>
        <p:nvSpPr>
          <p:cNvPr id="164" name="Google Shape;164;p15"/>
          <p:cNvSpPr txBox="1"/>
          <p:nvPr/>
        </p:nvSpPr>
        <p:spPr>
          <a:xfrm>
            <a:off x="457200" y="33832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9B6F6"/>
              </a:buClr>
              <a:buSzPts val="1100"/>
              <a:buFont typeface="Calibri"/>
              <a:buNone/>
            </a:pPr>
            <a:r>
              <a:rPr b="1" i="0" lang="en-US" sz="1100" u="none" cap="none" strike="noStrike">
                <a:solidFill>
                  <a:srgbClr val="29B6F6"/>
                </a:solidFill>
                <a:latin typeface="Calibri"/>
                <a:ea typeface="Calibri"/>
                <a:cs typeface="Calibri"/>
                <a:sym typeface="Calibri"/>
              </a:rPr>
              <a:t>Simple architecture</a:t>
            </a:r>
            <a:endParaRPr b="0" i="0" sz="1100" u="none" cap="none" strike="noStrike">
              <a:solidFill>
                <a:schemeClr val="dk1"/>
              </a:solidFill>
              <a:latin typeface="Calibri"/>
              <a:ea typeface="Calibri"/>
              <a:cs typeface="Calibri"/>
              <a:sym typeface="Calibri"/>
            </a:endParaRPr>
          </a:p>
        </p:txBody>
      </p:sp>
      <p:sp>
        <p:nvSpPr>
          <p:cNvPr id="165" name="Google Shape;165;p15"/>
          <p:cNvSpPr/>
          <p:nvPr/>
        </p:nvSpPr>
        <p:spPr>
          <a:xfrm>
            <a:off x="457200" y="3977640"/>
            <a:ext cx="1280100" cy="594300"/>
          </a:xfrm>
          <a:prstGeom prst="roundRect">
            <a:avLst>
              <a:gd fmla="val 12308"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txBox="1"/>
          <p:nvPr/>
        </p:nvSpPr>
        <p:spPr>
          <a:xfrm>
            <a:off x="457200" y="3977640"/>
            <a:ext cx="12801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RAN Simulator</a:t>
            </a:r>
            <a:endParaRPr b="0" i="0" sz="1100" u="none" cap="none" strike="noStrike">
              <a:solidFill>
                <a:schemeClr val="dk1"/>
              </a:solidFill>
              <a:latin typeface="Calibri"/>
              <a:ea typeface="Calibri"/>
              <a:cs typeface="Calibri"/>
              <a:sym typeface="Calibri"/>
            </a:endParaRPr>
          </a:p>
        </p:txBody>
      </p:sp>
      <p:cxnSp>
        <p:nvCxnSpPr>
          <p:cNvPr id="167" name="Google Shape;167;p15"/>
          <p:cNvCxnSpPr/>
          <p:nvPr/>
        </p:nvCxnSpPr>
        <p:spPr>
          <a:xfrm>
            <a:off x="1737360" y="4274820"/>
            <a:ext cx="365700" cy="0"/>
          </a:xfrm>
          <a:prstGeom prst="straightConnector1">
            <a:avLst/>
          </a:prstGeom>
          <a:noFill/>
          <a:ln cap="flat" cmpd="sng" w="25400">
            <a:solidFill>
              <a:srgbClr val="29B6F6"/>
            </a:solidFill>
            <a:prstDash val="solid"/>
            <a:round/>
            <a:headEnd len="sm" w="sm" type="none"/>
            <a:tailEnd len="med" w="med" type="triangle"/>
          </a:ln>
        </p:spPr>
      </p:cxnSp>
      <p:sp>
        <p:nvSpPr>
          <p:cNvPr id="168" name="Google Shape;168;p15"/>
          <p:cNvSpPr/>
          <p:nvPr/>
        </p:nvSpPr>
        <p:spPr>
          <a:xfrm>
            <a:off x="2103120" y="3977640"/>
            <a:ext cx="822900" cy="594300"/>
          </a:xfrm>
          <a:prstGeom prst="roundRect">
            <a:avLst>
              <a:gd fmla="val 12308"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txBox="1"/>
          <p:nvPr/>
        </p:nvSpPr>
        <p:spPr>
          <a:xfrm>
            <a:off x="2103120" y="3977640"/>
            <a:ext cx="8229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AMF</a:t>
            </a:r>
            <a:endParaRPr b="0" i="0" sz="1100" u="none" cap="none" strike="noStrike">
              <a:solidFill>
                <a:schemeClr val="dk1"/>
              </a:solidFill>
              <a:latin typeface="Calibri"/>
              <a:ea typeface="Calibri"/>
              <a:cs typeface="Calibri"/>
              <a:sym typeface="Calibri"/>
            </a:endParaRPr>
          </a:p>
        </p:txBody>
      </p:sp>
      <p:cxnSp>
        <p:nvCxnSpPr>
          <p:cNvPr id="170" name="Google Shape;170;p15"/>
          <p:cNvCxnSpPr/>
          <p:nvPr/>
        </p:nvCxnSpPr>
        <p:spPr>
          <a:xfrm>
            <a:off x="2926080" y="4274820"/>
            <a:ext cx="365700" cy="0"/>
          </a:xfrm>
          <a:prstGeom prst="straightConnector1">
            <a:avLst/>
          </a:prstGeom>
          <a:noFill/>
          <a:ln cap="flat" cmpd="sng" w="25400">
            <a:solidFill>
              <a:srgbClr val="29B6F6"/>
            </a:solidFill>
            <a:prstDash val="solid"/>
            <a:round/>
            <a:headEnd len="sm" w="sm" type="none"/>
            <a:tailEnd len="med" w="med" type="triangle"/>
          </a:ln>
        </p:spPr>
      </p:cxnSp>
      <p:sp>
        <p:nvSpPr>
          <p:cNvPr id="171" name="Google Shape;171;p15"/>
          <p:cNvSpPr/>
          <p:nvPr/>
        </p:nvSpPr>
        <p:spPr>
          <a:xfrm>
            <a:off x="3291840" y="3977640"/>
            <a:ext cx="1280100" cy="594300"/>
          </a:xfrm>
          <a:prstGeom prst="roundRect">
            <a:avLst>
              <a:gd fmla="val 12308"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txBox="1"/>
          <p:nvPr/>
        </p:nvSpPr>
        <p:spPr>
          <a:xfrm>
            <a:off x="3291840" y="3977640"/>
            <a:ext cx="12801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Load Balancer</a:t>
            </a:r>
            <a:endParaRPr b="0" i="0" sz="1100" u="none" cap="none" strike="noStrike">
              <a:solidFill>
                <a:schemeClr val="dk1"/>
              </a:solidFill>
              <a:latin typeface="Calibri"/>
              <a:ea typeface="Calibri"/>
              <a:cs typeface="Calibri"/>
              <a:sym typeface="Calibri"/>
            </a:endParaRPr>
          </a:p>
        </p:txBody>
      </p:sp>
      <p:sp>
        <p:nvSpPr>
          <p:cNvPr id="173" name="Google Shape;173;p15"/>
          <p:cNvSpPr/>
          <p:nvPr/>
        </p:nvSpPr>
        <p:spPr>
          <a:xfrm>
            <a:off x="5029200" y="3749040"/>
            <a:ext cx="1737300" cy="329100"/>
          </a:xfrm>
          <a:prstGeom prst="roundRect">
            <a:avLst>
              <a:gd fmla="val 2222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txBox="1"/>
          <p:nvPr/>
        </p:nvSpPr>
        <p:spPr>
          <a:xfrm>
            <a:off x="5029200" y="3749040"/>
            <a:ext cx="1737300" cy="3291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1</a:t>
            </a:r>
            <a:endParaRPr b="0" i="0" sz="1000" u="none" cap="none" strike="noStrike">
              <a:solidFill>
                <a:schemeClr val="dk1"/>
              </a:solidFill>
              <a:latin typeface="Calibri"/>
              <a:ea typeface="Calibri"/>
              <a:cs typeface="Calibri"/>
              <a:sym typeface="Calibri"/>
            </a:endParaRPr>
          </a:p>
        </p:txBody>
      </p:sp>
      <p:cxnSp>
        <p:nvCxnSpPr>
          <p:cNvPr id="175" name="Google Shape;175;p15"/>
          <p:cNvCxnSpPr/>
          <p:nvPr/>
        </p:nvCxnSpPr>
        <p:spPr>
          <a:xfrm flipH="1" rot="10800000">
            <a:off x="4572000" y="3913620"/>
            <a:ext cx="457200" cy="361200"/>
          </a:xfrm>
          <a:prstGeom prst="straightConnector1">
            <a:avLst/>
          </a:prstGeom>
          <a:noFill/>
          <a:ln cap="flat" cmpd="sng" w="19050">
            <a:solidFill>
              <a:srgbClr val="29B6F6"/>
            </a:solidFill>
            <a:prstDash val="solid"/>
            <a:round/>
            <a:headEnd len="sm" w="sm" type="none"/>
            <a:tailEnd len="med" w="med" type="triangle"/>
          </a:ln>
        </p:spPr>
      </p:cxnSp>
      <p:cxnSp>
        <p:nvCxnSpPr>
          <p:cNvPr id="176" name="Google Shape;176;p15"/>
          <p:cNvCxnSpPr/>
          <p:nvPr/>
        </p:nvCxnSpPr>
        <p:spPr>
          <a:xfrm>
            <a:off x="6766560" y="3913632"/>
            <a:ext cx="365700" cy="0"/>
          </a:xfrm>
          <a:prstGeom prst="straightConnector1">
            <a:avLst/>
          </a:prstGeom>
          <a:noFill/>
          <a:ln cap="flat" cmpd="sng" w="25400">
            <a:solidFill>
              <a:srgbClr val="29B6F6"/>
            </a:solidFill>
            <a:prstDash val="solid"/>
            <a:round/>
            <a:headEnd len="sm" w="sm" type="none"/>
            <a:tailEnd len="med" w="med" type="triangle"/>
          </a:ln>
        </p:spPr>
      </p:cxnSp>
      <p:sp>
        <p:nvSpPr>
          <p:cNvPr id="177" name="Google Shape;177;p15"/>
          <p:cNvSpPr/>
          <p:nvPr/>
        </p:nvSpPr>
        <p:spPr>
          <a:xfrm>
            <a:off x="5029200" y="4142232"/>
            <a:ext cx="1737300" cy="329100"/>
          </a:xfrm>
          <a:prstGeom prst="roundRect">
            <a:avLst>
              <a:gd fmla="val 2222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txBox="1"/>
          <p:nvPr/>
        </p:nvSpPr>
        <p:spPr>
          <a:xfrm>
            <a:off x="5029200" y="4142232"/>
            <a:ext cx="1737300" cy="3291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2</a:t>
            </a:r>
            <a:endParaRPr b="0" i="0" sz="1000" u="none" cap="none" strike="noStrike">
              <a:solidFill>
                <a:schemeClr val="dk1"/>
              </a:solidFill>
              <a:latin typeface="Calibri"/>
              <a:ea typeface="Calibri"/>
              <a:cs typeface="Calibri"/>
              <a:sym typeface="Calibri"/>
            </a:endParaRPr>
          </a:p>
        </p:txBody>
      </p:sp>
      <p:cxnSp>
        <p:nvCxnSpPr>
          <p:cNvPr id="179" name="Google Shape;179;p15"/>
          <p:cNvCxnSpPr/>
          <p:nvPr/>
        </p:nvCxnSpPr>
        <p:spPr>
          <a:xfrm>
            <a:off x="4572000" y="4274820"/>
            <a:ext cx="457200" cy="32100"/>
          </a:xfrm>
          <a:prstGeom prst="straightConnector1">
            <a:avLst/>
          </a:prstGeom>
          <a:noFill/>
          <a:ln cap="flat" cmpd="sng" w="19050">
            <a:solidFill>
              <a:srgbClr val="29B6F6"/>
            </a:solidFill>
            <a:prstDash val="solid"/>
            <a:round/>
            <a:headEnd len="sm" w="sm" type="none"/>
            <a:tailEnd len="med" w="med" type="triangle"/>
          </a:ln>
        </p:spPr>
      </p:cxnSp>
      <p:cxnSp>
        <p:nvCxnSpPr>
          <p:cNvPr id="180" name="Google Shape;180;p15"/>
          <p:cNvCxnSpPr/>
          <p:nvPr/>
        </p:nvCxnSpPr>
        <p:spPr>
          <a:xfrm>
            <a:off x="6766560" y="4306824"/>
            <a:ext cx="365700" cy="0"/>
          </a:xfrm>
          <a:prstGeom prst="straightConnector1">
            <a:avLst/>
          </a:prstGeom>
          <a:noFill/>
          <a:ln cap="flat" cmpd="sng" w="25400">
            <a:solidFill>
              <a:srgbClr val="29B6F6"/>
            </a:solidFill>
            <a:prstDash val="solid"/>
            <a:round/>
            <a:headEnd len="sm" w="sm" type="none"/>
            <a:tailEnd len="med" w="med" type="triangle"/>
          </a:ln>
        </p:spPr>
      </p:cxnSp>
      <p:sp>
        <p:nvSpPr>
          <p:cNvPr id="181" name="Google Shape;181;p15"/>
          <p:cNvSpPr/>
          <p:nvPr/>
        </p:nvSpPr>
        <p:spPr>
          <a:xfrm>
            <a:off x="5029200" y="4535424"/>
            <a:ext cx="1737300" cy="329100"/>
          </a:xfrm>
          <a:prstGeom prst="roundRect">
            <a:avLst>
              <a:gd fmla="val 2222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txBox="1"/>
          <p:nvPr/>
        </p:nvSpPr>
        <p:spPr>
          <a:xfrm>
            <a:off x="5029200" y="4535424"/>
            <a:ext cx="1737300" cy="3291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N</a:t>
            </a:r>
            <a:endParaRPr b="0" i="0" sz="1000" u="none" cap="none" strike="noStrike">
              <a:solidFill>
                <a:schemeClr val="dk1"/>
              </a:solidFill>
              <a:latin typeface="Calibri"/>
              <a:ea typeface="Calibri"/>
              <a:cs typeface="Calibri"/>
              <a:sym typeface="Calibri"/>
            </a:endParaRPr>
          </a:p>
        </p:txBody>
      </p:sp>
      <p:cxnSp>
        <p:nvCxnSpPr>
          <p:cNvPr id="183" name="Google Shape;183;p15"/>
          <p:cNvCxnSpPr/>
          <p:nvPr/>
        </p:nvCxnSpPr>
        <p:spPr>
          <a:xfrm>
            <a:off x="4572000" y="4274820"/>
            <a:ext cx="457200" cy="425100"/>
          </a:xfrm>
          <a:prstGeom prst="straightConnector1">
            <a:avLst/>
          </a:prstGeom>
          <a:noFill/>
          <a:ln cap="flat" cmpd="sng" w="19050">
            <a:solidFill>
              <a:srgbClr val="29B6F6"/>
            </a:solidFill>
            <a:prstDash val="solid"/>
            <a:round/>
            <a:headEnd len="sm" w="sm" type="none"/>
            <a:tailEnd len="med" w="med" type="triangle"/>
          </a:ln>
        </p:spPr>
      </p:cxnSp>
      <p:cxnSp>
        <p:nvCxnSpPr>
          <p:cNvPr id="184" name="Google Shape;184;p15"/>
          <p:cNvCxnSpPr/>
          <p:nvPr/>
        </p:nvCxnSpPr>
        <p:spPr>
          <a:xfrm>
            <a:off x="6766560" y="4700016"/>
            <a:ext cx="365700" cy="0"/>
          </a:xfrm>
          <a:prstGeom prst="straightConnector1">
            <a:avLst/>
          </a:prstGeom>
          <a:noFill/>
          <a:ln cap="flat" cmpd="sng" w="25400">
            <a:solidFill>
              <a:srgbClr val="29B6F6"/>
            </a:solidFill>
            <a:prstDash val="solid"/>
            <a:round/>
            <a:headEnd len="sm" w="sm" type="none"/>
            <a:tailEnd len="med" w="med" type="triangle"/>
          </a:ln>
        </p:spPr>
      </p:cxnSp>
      <p:sp>
        <p:nvSpPr>
          <p:cNvPr id="185" name="Google Shape;185;p15"/>
          <p:cNvSpPr/>
          <p:nvPr/>
        </p:nvSpPr>
        <p:spPr>
          <a:xfrm>
            <a:off x="7132320" y="3977640"/>
            <a:ext cx="1554600" cy="594300"/>
          </a:xfrm>
          <a:prstGeom prst="roundRect">
            <a:avLst>
              <a:gd fmla="val 12308"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txBox="1"/>
          <p:nvPr/>
        </p:nvSpPr>
        <p:spPr>
          <a:xfrm>
            <a:off x="7132320" y="3977640"/>
            <a:ext cx="1554600" cy="594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UPF / Sink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191" name="Shape 191"/>
        <p:cNvGrpSpPr/>
        <p:nvPr/>
      </p:nvGrpSpPr>
      <p:grpSpPr>
        <a:xfrm>
          <a:off x="0" y="0"/>
          <a:ext cx="0" cy="0"/>
          <a:chOff x="0" y="0"/>
          <a:chExt cx="0" cy="0"/>
        </a:xfrm>
      </p:grpSpPr>
      <p:sp>
        <p:nvSpPr>
          <p:cNvPr id="192" name="Google Shape;192;p16"/>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Literature Survey</a:t>
            </a:r>
            <a:endParaRPr b="0" i="0" sz="3200" u="none" cap="none" strike="noStrike">
              <a:solidFill>
                <a:schemeClr val="dk1"/>
              </a:solidFill>
              <a:latin typeface="Calibri"/>
              <a:ea typeface="Calibri"/>
              <a:cs typeface="Calibri"/>
              <a:sym typeface="Calibri"/>
            </a:endParaRPr>
          </a:p>
        </p:txBody>
      </p:sp>
      <p:graphicFrame>
        <p:nvGraphicFramePr>
          <p:cNvPr id="193" name="Google Shape;193;p16"/>
          <p:cNvGraphicFramePr/>
          <p:nvPr/>
        </p:nvGraphicFramePr>
        <p:xfrm>
          <a:off x="457200" y="1005840"/>
          <a:ext cx="3000000" cy="3000000"/>
        </p:xfrm>
        <a:graphic>
          <a:graphicData uri="http://schemas.openxmlformats.org/drawingml/2006/table">
            <a:tbl>
              <a:tblPr>
                <a:noFill/>
                <a:tableStyleId>{4ACEAFEF-23FE-47EF-A129-902EB700DEFB}</a:tableStyleId>
              </a:tblPr>
              <a:tblGrid>
                <a:gridCol w="2286000"/>
                <a:gridCol w="3291850"/>
                <a:gridCol w="2651750"/>
              </a:tblGrid>
              <a:tr h="3657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Work / Technology</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Main Idea</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Relevance to Our Project</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r>
              <a:tr h="566925">
                <a:tc>
                  <a:txBody>
                    <a:bodyPr/>
                    <a:lstStyle/>
                    <a:p>
                      <a:pPr indent="0" lvl="0" marL="0" marR="0" rtl="0" algn="l">
                        <a:spcBef>
                          <a:spcPts val="0"/>
                        </a:spcBef>
                        <a:spcAft>
                          <a:spcPts val="0"/>
                        </a:spcAft>
                        <a:buClr>
                          <a:srgbClr val="1B2B4B"/>
                        </a:buClr>
                        <a:buSzPts val="1100"/>
                        <a:buFont typeface="Calibri"/>
                        <a:buNone/>
                      </a:pPr>
                      <a:r>
                        <a:rPr b="1" lang="en-US" sz="1100" u="none" cap="none" strike="noStrike">
                          <a:solidFill>
                            <a:srgbClr val="1B2B4B"/>
                          </a:solidFill>
                          <a:latin typeface="Calibri"/>
                          <a:ea typeface="Calibri"/>
                          <a:cs typeface="Calibri"/>
                          <a:sym typeface="Calibri"/>
                        </a:rPr>
                        <a:t>5G Service-Based Architecture</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Splits the 5G Core into independent Network Functions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Enables flexible, scalable service communication</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B2B4B"/>
                        </a:buClr>
                        <a:buSzPts val="1100"/>
                        <a:buFont typeface="Calibri"/>
                        <a:buNone/>
                      </a:pPr>
                      <a:r>
                        <a:rPr b="1" lang="en-US" sz="1100" u="none" cap="none" strike="noStrike">
                          <a:solidFill>
                            <a:srgbClr val="1B2B4B"/>
                          </a:solidFill>
                          <a:latin typeface="Calibri"/>
                          <a:ea typeface="Calibri"/>
                          <a:cs typeface="Calibri"/>
                          <a:sym typeface="Calibri"/>
                        </a:rPr>
                        <a:t>gRPC Microservice Communication</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Efficient RPC-based communication between services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Suitable for communication among distributed NFs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B2B4B"/>
                        </a:buClr>
                        <a:buSzPts val="1100"/>
                        <a:buFont typeface="Calibri"/>
                        <a:buNone/>
                      </a:pPr>
                      <a:r>
                        <a:rPr b="1" lang="en-US" sz="1100" u="none" cap="none" strike="noStrike">
                          <a:solidFill>
                            <a:srgbClr val="1B2B4B"/>
                          </a:solidFill>
                          <a:latin typeface="Calibri"/>
                          <a:ea typeface="Calibri"/>
                          <a:cs typeface="Calibri"/>
                          <a:sym typeface="Calibri"/>
                        </a:rPr>
                        <a:t>Load Balancing in Distributed Systems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Distributes requests among multiple service instances</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B4B"/>
                        </a:buClr>
                        <a:buSzPts val="1100"/>
                        <a:buFont typeface="Calibri"/>
                        <a:buNone/>
                      </a:pPr>
                      <a:r>
                        <a:rPr lang="en-US" sz="1100" u="none" cap="none" strike="noStrike">
                          <a:solidFill>
                            <a:srgbClr val="1B2B4B"/>
                          </a:solidFill>
                          <a:latin typeface="Calibri"/>
                          <a:ea typeface="Calibri"/>
                          <a:cs typeface="Calibri"/>
                          <a:sym typeface="Calibri"/>
                        </a:rPr>
                        <a:t>Helps prevent individual instances from being overloaded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198" name="Shape 198"/>
        <p:cNvGrpSpPr/>
        <p:nvPr/>
      </p:nvGrpSpPr>
      <p:grpSpPr>
        <a:xfrm>
          <a:off x="0" y="0"/>
          <a:ext cx="0" cy="0"/>
          <a:chOff x="0" y="0"/>
          <a:chExt cx="0" cy="0"/>
        </a:xfrm>
      </p:grpSpPr>
      <p:sp>
        <p:nvSpPr>
          <p:cNvPr id="199" name="Google Shape;199;p17"/>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Problem Statement</a:t>
            </a:r>
            <a:endParaRPr b="0" i="0" sz="3200" u="none" cap="none" strike="noStrike">
              <a:solidFill>
                <a:schemeClr val="dk1"/>
              </a:solidFill>
              <a:latin typeface="Calibri"/>
              <a:ea typeface="Calibri"/>
              <a:cs typeface="Calibri"/>
              <a:sym typeface="Calibri"/>
            </a:endParaRPr>
          </a:p>
        </p:txBody>
      </p:sp>
      <p:sp>
        <p:nvSpPr>
          <p:cNvPr id="200" name="Google Shape;200;p17"/>
          <p:cNvSpPr/>
          <p:nvPr/>
        </p:nvSpPr>
        <p:spPr>
          <a:xfrm>
            <a:off x="457200" y="914400"/>
            <a:ext cx="8229600" cy="1188720"/>
          </a:xfrm>
          <a:prstGeom prst="roundRect">
            <a:avLst>
              <a:gd fmla="val 6154"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txBox="1"/>
          <p:nvPr/>
        </p:nvSpPr>
        <p:spPr>
          <a:xfrm>
            <a:off x="640080" y="914400"/>
            <a:ext cx="78638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1" lang="en-US" sz="1200" u="none" cap="none" strike="noStrike">
                <a:solidFill>
                  <a:srgbClr val="1B2B4B"/>
                </a:solidFill>
                <a:latin typeface="Calibri"/>
                <a:ea typeface="Calibri"/>
                <a:cs typeface="Calibri"/>
                <a:sym typeface="Calibri"/>
              </a:rPr>
              <a:t>In a service-based 5G Core, multiple Network Functions communicate through service requests. As the number of requests increases, a single instance of a Network Function can become overloaded, causing increased response time and inefficient resource utilization. Therefore, there is a need to study how different load-balancing approaches distribute requests among multiple 5G Core service instances and how these approaches affect overall network performance.</a:t>
            </a:r>
            <a:endParaRPr b="0" i="0" sz="1200" u="none" cap="none" strike="noStrike">
              <a:solidFill>
                <a:schemeClr val="dk1"/>
              </a:solidFill>
              <a:latin typeface="Calibri"/>
              <a:ea typeface="Calibri"/>
              <a:cs typeface="Calibri"/>
              <a:sym typeface="Calibri"/>
            </a:endParaRPr>
          </a:p>
        </p:txBody>
      </p:sp>
      <p:sp>
        <p:nvSpPr>
          <p:cNvPr id="202" name="Google Shape;202;p17"/>
          <p:cNvSpPr txBox="1"/>
          <p:nvPr/>
        </p:nvSpPr>
        <p:spPr>
          <a:xfrm>
            <a:off x="457200" y="224028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480F"/>
              </a:buClr>
              <a:buSzPts val="1200"/>
              <a:buFont typeface="Calibri"/>
              <a:buNone/>
            </a:pPr>
            <a:r>
              <a:rPr b="1" i="0" lang="en-US" sz="1200" u="none" cap="none" strike="noStrike">
                <a:solidFill>
                  <a:srgbClr val="D9480F"/>
                </a:solidFill>
                <a:latin typeface="Calibri"/>
                <a:ea typeface="Calibri"/>
                <a:cs typeface="Calibri"/>
                <a:sym typeface="Calibri"/>
              </a:rPr>
              <a:t>Without effective load balancing</a:t>
            </a:r>
            <a:endParaRPr b="0" i="0" sz="1200" u="none" cap="none" strike="noStrike">
              <a:solidFill>
                <a:schemeClr val="dk1"/>
              </a:solidFill>
              <a:latin typeface="Calibri"/>
              <a:ea typeface="Calibri"/>
              <a:cs typeface="Calibri"/>
              <a:sym typeface="Calibri"/>
            </a:endParaRPr>
          </a:p>
        </p:txBody>
      </p:sp>
      <p:sp>
        <p:nvSpPr>
          <p:cNvPr id="203" name="Google Shape;203;p17"/>
          <p:cNvSpPr/>
          <p:nvPr/>
        </p:nvSpPr>
        <p:spPr>
          <a:xfrm>
            <a:off x="457200" y="2560320"/>
            <a:ext cx="2011680" cy="685800"/>
          </a:xfrm>
          <a:prstGeom prst="roundRect">
            <a:avLst>
              <a:gd fmla="val 10667" name="adj"/>
            </a:avLst>
          </a:prstGeom>
          <a:solidFill>
            <a:srgbClr val="5B6B88"/>
          </a:solidFill>
          <a:ln cap="flat" cmpd="sng" w="12700">
            <a:solidFill>
              <a:srgbClr val="5B6B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txBox="1"/>
          <p:nvPr/>
        </p:nvSpPr>
        <p:spPr>
          <a:xfrm>
            <a:off x="457200" y="2560320"/>
            <a:ext cx="201168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Many requests</a:t>
            </a:r>
            <a:endParaRPr b="0" i="0" sz="1100" u="none" cap="none" strike="noStrike">
              <a:solidFill>
                <a:schemeClr val="dk1"/>
              </a:solidFill>
              <a:latin typeface="Calibri"/>
              <a:ea typeface="Calibri"/>
              <a:cs typeface="Calibri"/>
              <a:sym typeface="Calibri"/>
            </a:endParaRPr>
          </a:p>
        </p:txBody>
      </p:sp>
      <p:cxnSp>
        <p:nvCxnSpPr>
          <p:cNvPr id="205" name="Google Shape;205;p17"/>
          <p:cNvCxnSpPr/>
          <p:nvPr/>
        </p:nvCxnSpPr>
        <p:spPr>
          <a:xfrm>
            <a:off x="2468880" y="2903220"/>
            <a:ext cx="548640" cy="0"/>
          </a:xfrm>
          <a:prstGeom prst="straightConnector1">
            <a:avLst/>
          </a:prstGeom>
          <a:noFill/>
          <a:ln cap="flat" cmpd="sng" w="25400">
            <a:solidFill>
              <a:srgbClr val="D9480F"/>
            </a:solidFill>
            <a:prstDash val="solid"/>
            <a:round/>
            <a:headEnd len="sm" w="sm" type="none"/>
            <a:tailEnd len="med" w="med" type="triangle"/>
          </a:ln>
        </p:spPr>
      </p:cxnSp>
      <p:sp>
        <p:nvSpPr>
          <p:cNvPr id="206" name="Google Shape;206;p17"/>
          <p:cNvSpPr/>
          <p:nvPr/>
        </p:nvSpPr>
        <p:spPr>
          <a:xfrm>
            <a:off x="3017520" y="2560320"/>
            <a:ext cx="2468880" cy="685800"/>
          </a:xfrm>
          <a:prstGeom prst="roundRect">
            <a:avLst>
              <a:gd fmla="val 10667" name="adj"/>
            </a:avLst>
          </a:prstGeom>
          <a:solidFill>
            <a:srgbClr val="D9480F"/>
          </a:solidFill>
          <a:ln cap="flat" cmpd="sng" w="12700">
            <a:solidFill>
              <a:srgbClr val="D948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
          <p:cNvSpPr txBox="1"/>
          <p:nvPr/>
        </p:nvSpPr>
        <p:spPr>
          <a:xfrm>
            <a:off x="3017520" y="2560320"/>
            <a:ext cx="246888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One overloaded instance</a:t>
            </a:r>
            <a:endParaRPr b="0" i="0" sz="1100" u="none" cap="none" strike="noStrike">
              <a:solidFill>
                <a:schemeClr val="dk1"/>
              </a:solidFill>
              <a:latin typeface="Calibri"/>
              <a:ea typeface="Calibri"/>
              <a:cs typeface="Calibri"/>
              <a:sym typeface="Calibri"/>
            </a:endParaRPr>
          </a:p>
        </p:txBody>
      </p:sp>
      <p:cxnSp>
        <p:nvCxnSpPr>
          <p:cNvPr id="208" name="Google Shape;208;p17"/>
          <p:cNvCxnSpPr/>
          <p:nvPr/>
        </p:nvCxnSpPr>
        <p:spPr>
          <a:xfrm>
            <a:off x="5486400" y="2903220"/>
            <a:ext cx="548640" cy="0"/>
          </a:xfrm>
          <a:prstGeom prst="straightConnector1">
            <a:avLst/>
          </a:prstGeom>
          <a:noFill/>
          <a:ln cap="flat" cmpd="sng" w="25400">
            <a:solidFill>
              <a:srgbClr val="D9480F"/>
            </a:solidFill>
            <a:prstDash val="solid"/>
            <a:round/>
            <a:headEnd len="sm" w="sm" type="none"/>
            <a:tailEnd len="med" w="med" type="triangle"/>
          </a:ln>
        </p:spPr>
      </p:cxnSp>
      <p:sp>
        <p:nvSpPr>
          <p:cNvPr id="209" name="Google Shape;209;p17"/>
          <p:cNvSpPr/>
          <p:nvPr/>
        </p:nvSpPr>
        <p:spPr>
          <a:xfrm>
            <a:off x="6035040" y="2560320"/>
            <a:ext cx="2651760" cy="685800"/>
          </a:xfrm>
          <a:prstGeom prst="roundRect">
            <a:avLst>
              <a:gd fmla="val 10667" name="adj"/>
            </a:avLst>
          </a:prstGeom>
          <a:solidFill>
            <a:srgbClr val="FFFFFF"/>
          </a:solidFill>
          <a:ln cap="flat" cmpd="sng" w="12700">
            <a:solidFill>
              <a:srgbClr val="D948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
          <p:cNvSpPr txBox="1"/>
          <p:nvPr/>
        </p:nvSpPr>
        <p:spPr>
          <a:xfrm>
            <a:off x="6035040" y="2560320"/>
            <a:ext cx="2651760" cy="685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9480F"/>
              </a:buClr>
              <a:buSzPts val="1100"/>
              <a:buFont typeface="Calibri"/>
              <a:buNone/>
            </a:pPr>
            <a:r>
              <a:rPr b="1" i="0" lang="en-US" sz="1100" u="none" cap="none" strike="noStrike">
                <a:solidFill>
                  <a:srgbClr val="D9480F"/>
                </a:solidFill>
                <a:latin typeface="Calibri"/>
                <a:ea typeface="Calibri"/>
                <a:cs typeface="Calibri"/>
                <a:sym typeface="Calibri"/>
              </a:rPr>
              <a:t>Higher latency / lower performance</a:t>
            </a:r>
            <a:endParaRPr b="0" i="0" sz="1100" u="none" cap="none" strike="noStrike">
              <a:solidFill>
                <a:schemeClr val="dk1"/>
              </a:solidFill>
              <a:latin typeface="Calibri"/>
              <a:ea typeface="Calibri"/>
              <a:cs typeface="Calibri"/>
              <a:sym typeface="Calibri"/>
            </a:endParaRPr>
          </a:p>
        </p:txBody>
      </p:sp>
      <p:sp>
        <p:nvSpPr>
          <p:cNvPr id="211" name="Google Shape;211;p17"/>
          <p:cNvSpPr txBox="1"/>
          <p:nvPr/>
        </p:nvSpPr>
        <p:spPr>
          <a:xfrm>
            <a:off x="457200" y="338328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1" i="0" lang="en-US" sz="1200" u="none" cap="none" strike="noStrike">
                <a:solidFill>
                  <a:srgbClr val="1565C0"/>
                </a:solidFill>
                <a:latin typeface="Calibri"/>
                <a:ea typeface="Calibri"/>
                <a:cs typeface="Calibri"/>
                <a:sym typeface="Calibri"/>
              </a:rPr>
              <a:t>With load balancing</a:t>
            </a:r>
            <a:endParaRPr b="0" i="0" sz="1200" u="none" cap="none" strike="noStrike">
              <a:solidFill>
                <a:schemeClr val="dk1"/>
              </a:solidFill>
              <a:latin typeface="Calibri"/>
              <a:ea typeface="Calibri"/>
              <a:cs typeface="Calibri"/>
              <a:sym typeface="Calibri"/>
            </a:endParaRPr>
          </a:p>
        </p:txBody>
      </p:sp>
      <p:sp>
        <p:nvSpPr>
          <p:cNvPr id="212" name="Google Shape;212;p17"/>
          <p:cNvSpPr/>
          <p:nvPr/>
        </p:nvSpPr>
        <p:spPr>
          <a:xfrm>
            <a:off x="457200" y="3749040"/>
            <a:ext cx="1554480" cy="914400"/>
          </a:xfrm>
          <a:prstGeom prst="roundRect">
            <a:avLst>
              <a:gd fmla="val 8000" name="adj"/>
            </a:avLst>
          </a:prstGeom>
          <a:solidFill>
            <a:srgbClr val="5B6B88"/>
          </a:solidFill>
          <a:ln cap="flat" cmpd="sng" w="12700">
            <a:solidFill>
              <a:srgbClr val="5B6B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7"/>
          <p:cNvSpPr txBox="1"/>
          <p:nvPr/>
        </p:nvSpPr>
        <p:spPr>
          <a:xfrm>
            <a:off x="457200" y="3749040"/>
            <a:ext cx="1554480" cy="914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Many requests</a:t>
            </a:r>
            <a:endParaRPr b="0" i="0" sz="1100" u="none" cap="none" strike="noStrike">
              <a:solidFill>
                <a:schemeClr val="dk1"/>
              </a:solidFill>
              <a:latin typeface="Calibri"/>
              <a:ea typeface="Calibri"/>
              <a:cs typeface="Calibri"/>
              <a:sym typeface="Calibri"/>
            </a:endParaRPr>
          </a:p>
        </p:txBody>
      </p:sp>
      <p:cxnSp>
        <p:nvCxnSpPr>
          <p:cNvPr id="214" name="Google Shape;214;p17"/>
          <p:cNvCxnSpPr/>
          <p:nvPr/>
        </p:nvCxnSpPr>
        <p:spPr>
          <a:xfrm>
            <a:off x="2011680" y="4206240"/>
            <a:ext cx="365760" cy="0"/>
          </a:xfrm>
          <a:prstGeom prst="straightConnector1">
            <a:avLst/>
          </a:prstGeom>
          <a:noFill/>
          <a:ln cap="flat" cmpd="sng" w="25400">
            <a:solidFill>
              <a:srgbClr val="1565C0"/>
            </a:solidFill>
            <a:prstDash val="solid"/>
            <a:round/>
            <a:headEnd len="sm" w="sm" type="none"/>
            <a:tailEnd len="med" w="med" type="triangle"/>
          </a:ln>
        </p:spPr>
      </p:cxnSp>
      <p:sp>
        <p:nvSpPr>
          <p:cNvPr id="215" name="Google Shape;215;p17"/>
          <p:cNvSpPr/>
          <p:nvPr/>
        </p:nvSpPr>
        <p:spPr>
          <a:xfrm>
            <a:off x="2377440" y="3886200"/>
            <a:ext cx="1463040" cy="640080"/>
          </a:xfrm>
          <a:prstGeom prst="roundRect">
            <a:avLst>
              <a:gd fmla="val 11429"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7"/>
          <p:cNvSpPr txBox="1"/>
          <p:nvPr/>
        </p:nvSpPr>
        <p:spPr>
          <a:xfrm>
            <a:off x="2377440" y="3886200"/>
            <a:ext cx="1463040" cy="6400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Load Balancer</a:t>
            </a:r>
            <a:endParaRPr b="0" i="0" sz="1100" u="none" cap="none" strike="noStrike">
              <a:solidFill>
                <a:schemeClr val="dk1"/>
              </a:solidFill>
              <a:latin typeface="Calibri"/>
              <a:ea typeface="Calibri"/>
              <a:cs typeface="Calibri"/>
              <a:sym typeface="Calibri"/>
            </a:endParaRPr>
          </a:p>
        </p:txBody>
      </p:sp>
      <p:sp>
        <p:nvSpPr>
          <p:cNvPr id="217" name="Google Shape;217;p17"/>
          <p:cNvSpPr/>
          <p:nvPr/>
        </p:nvSpPr>
        <p:spPr>
          <a:xfrm>
            <a:off x="4389120" y="3703320"/>
            <a:ext cx="1554480" cy="274320"/>
          </a:xfrm>
          <a:prstGeom prst="roundRect">
            <a:avLst>
              <a:gd fmla="val 26667"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7"/>
          <p:cNvSpPr txBox="1"/>
          <p:nvPr/>
        </p:nvSpPr>
        <p:spPr>
          <a:xfrm>
            <a:off x="4389120" y="3703320"/>
            <a:ext cx="1554480" cy="27432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Instance 1</a:t>
            </a:r>
            <a:endParaRPr b="0" i="0" sz="1000" u="none" cap="none" strike="noStrike">
              <a:solidFill>
                <a:schemeClr val="dk1"/>
              </a:solidFill>
              <a:latin typeface="Calibri"/>
              <a:ea typeface="Calibri"/>
              <a:cs typeface="Calibri"/>
              <a:sym typeface="Calibri"/>
            </a:endParaRPr>
          </a:p>
        </p:txBody>
      </p:sp>
      <p:cxnSp>
        <p:nvCxnSpPr>
          <p:cNvPr id="219" name="Google Shape;219;p17"/>
          <p:cNvCxnSpPr/>
          <p:nvPr/>
        </p:nvCxnSpPr>
        <p:spPr>
          <a:xfrm flipH="1" rot="10800000">
            <a:off x="3840480" y="3840480"/>
            <a:ext cx="548640" cy="365760"/>
          </a:xfrm>
          <a:prstGeom prst="straightConnector1">
            <a:avLst/>
          </a:prstGeom>
          <a:noFill/>
          <a:ln cap="flat" cmpd="sng" w="19050">
            <a:solidFill>
              <a:srgbClr val="1565C0"/>
            </a:solidFill>
            <a:prstDash val="solid"/>
            <a:round/>
            <a:headEnd len="sm" w="sm" type="none"/>
            <a:tailEnd len="med" w="med" type="triangle"/>
          </a:ln>
        </p:spPr>
      </p:cxnSp>
      <p:cxnSp>
        <p:nvCxnSpPr>
          <p:cNvPr id="220" name="Google Shape;220;p17"/>
          <p:cNvCxnSpPr/>
          <p:nvPr/>
        </p:nvCxnSpPr>
        <p:spPr>
          <a:xfrm>
            <a:off x="5943600" y="3840480"/>
            <a:ext cx="365760" cy="0"/>
          </a:xfrm>
          <a:prstGeom prst="straightConnector1">
            <a:avLst/>
          </a:prstGeom>
          <a:noFill/>
          <a:ln cap="flat" cmpd="sng" w="25400">
            <a:solidFill>
              <a:srgbClr val="1565C0"/>
            </a:solidFill>
            <a:prstDash val="solid"/>
            <a:round/>
            <a:headEnd len="sm" w="sm" type="none"/>
            <a:tailEnd len="med" w="med" type="triangle"/>
          </a:ln>
        </p:spPr>
      </p:cxnSp>
      <p:sp>
        <p:nvSpPr>
          <p:cNvPr id="221" name="Google Shape;221;p17"/>
          <p:cNvSpPr/>
          <p:nvPr/>
        </p:nvSpPr>
        <p:spPr>
          <a:xfrm>
            <a:off x="4389120" y="4041648"/>
            <a:ext cx="1554480" cy="274320"/>
          </a:xfrm>
          <a:prstGeom prst="roundRect">
            <a:avLst>
              <a:gd fmla="val 26667"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7"/>
          <p:cNvSpPr txBox="1"/>
          <p:nvPr/>
        </p:nvSpPr>
        <p:spPr>
          <a:xfrm>
            <a:off x="4389120" y="4041648"/>
            <a:ext cx="1554480" cy="27432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Instance 2</a:t>
            </a:r>
            <a:endParaRPr b="0" i="0" sz="1000" u="none" cap="none" strike="noStrike">
              <a:solidFill>
                <a:schemeClr val="dk1"/>
              </a:solidFill>
              <a:latin typeface="Calibri"/>
              <a:ea typeface="Calibri"/>
              <a:cs typeface="Calibri"/>
              <a:sym typeface="Calibri"/>
            </a:endParaRPr>
          </a:p>
        </p:txBody>
      </p:sp>
      <p:cxnSp>
        <p:nvCxnSpPr>
          <p:cNvPr id="223" name="Google Shape;223;p17"/>
          <p:cNvCxnSpPr/>
          <p:nvPr/>
        </p:nvCxnSpPr>
        <p:spPr>
          <a:xfrm flipH="1" rot="10800000">
            <a:off x="3840480" y="4178808"/>
            <a:ext cx="548640" cy="27432"/>
          </a:xfrm>
          <a:prstGeom prst="straightConnector1">
            <a:avLst/>
          </a:prstGeom>
          <a:noFill/>
          <a:ln cap="flat" cmpd="sng" w="19050">
            <a:solidFill>
              <a:srgbClr val="1565C0"/>
            </a:solidFill>
            <a:prstDash val="solid"/>
            <a:round/>
            <a:headEnd len="sm" w="sm" type="none"/>
            <a:tailEnd len="med" w="med" type="triangle"/>
          </a:ln>
        </p:spPr>
      </p:cxnSp>
      <p:cxnSp>
        <p:nvCxnSpPr>
          <p:cNvPr id="224" name="Google Shape;224;p17"/>
          <p:cNvCxnSpPr/>
          <p:nvPr/>
        </p:nvCxnSpPr>
        <p:spPr>
          <a:xfrm>
            <a:off x="5943600" y="4178808"/>
            <a:ext cx="365760" cy="0"/>
          </a:xfrm>
          <a:prstGeom prst="straightConnector1">
            <a:avLst/>
          </a:prstGeom>
          <a:noFill/>
          <a:ln cap="flat" cmpd="sng" w="25400">
            <a:solidFill>
              <a:srgbClr val="1565C0"/>
            </a:solidFill>
            <a:prstDash val="solid"/>
            <a:round/>
            <a:headEnd len="sm" w="sm" type="none"/>
            <a:tailEnd len="med" w="med" type="triangle"/>
          </a:ln>
        </p:spPr>
      </p:cxnSp>
      <p:sp>
        <p:nvSpPr>
          <p:cNvPr id="225" name="Google Shape;225;p17"/>
          <p:cNvSpPr/>
          <p:nvPr/>
        </p:nvSpPr>
        <p:spPr>
          <a:xfrm>
            <a:off x="4389120" y="4379976"/>
            <a:ext cx="1554480" cy="274320"/>
          </a:xfrm>
          <a:prstGeom prst="roundRect">
            <a:avLst>
              <a:gd fmla="val 26667"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7"/>
          <p:cNvSpPr txBox="1"/>
          <p:nvPr/>
        </p:nvSpPr>
        <p:spPr>
          <a:xfrm>
            <a:off x="4389120" y="4379976"/>
            <a:ext cx="1554480" cy="27432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Instance 3</a:t>
            </a:r>
            <a:endParaRPr b="0" i="0" sz="1000" u="none" cap="none" strike="noStrike">
              <a:solidFill>
                <a:schemeClr val="dk1"/>
              </a:solidFill>
              <a:latin typeface="Calibri"/>
              <a:ea typeface="Calibri"/>
              <a:cs typeface="Calibri"/>
              <a:sym typeface="Calibri"/>
            </a:endParaRPr>
          </a:p>
        </p:txBody>
      </p:sp>
      <p:cxnSp>
        <p:nvCxnSpPr>
          <p:cNvPr id="227" name="Google Shape;227;p17"/>
          <p:cNvCxnSpPr/>
          <p:nvPr/>
        </p:nvCxnSpPr>
        <p:spPr>
          <a:xfrm>
            <a:off x="3840480" y="4206240"/>
            <a:ext cx="548640" cy="310896"/>
          </a:xfrm>
          <a:prstGeom prst="straightConnector1">
            <a:avLst/>
          </a:prstGeom>
          <a:noFill/>
          <a:ln cap="flat" cmpd="sng" w="19050">
            <a:solidFill>
              <a:srgbClr val="1565C0"/>
            </a:solidFill>
            <a:prstDash val="solid"/>
            <a:round/>
            <a:headEnd len="sm" w="sm" type="none"/>
            <a:tailEnd len="med" w="med" type="triangle"/>
          </a:ln>
        </p:spPr>
      </p:cxnSp>
      <p:cxnSp>
        <p:nvCxnSpPr>
          <p:cNvPr id="228" name="Google Shape;228;p17"/>
          <p:cNvCxnSpPr/>
          <p:nvPr/>
        </p:nvCxnSpPr>
        <p:spPr>
          <a:xfrm>
            <a:off x="5943600" y="4517136"/>
            <a:ext cx="365760" cy="0"/>
          </a:xfrm>
          <a:prstGeom prst="straightConnector1">
            <a:avLst/>
          </a:prstGeom>
          <a:noFill/>
          <a:ln cap="flat" cmpd="sng" w="25400">
            <a:solidFill>
              <a:srgbClr val="1565C0"/>
            </a:solidFill>
            <a:prstDash val="solid"/>
            <a:round/>
            <a:headEnd len="sm" w="sm" type="none"/>
            <a:tailEnd len="med" w="med" type="triangle"/>
          </a:ln>
        </p:spPr>
      </p:cxnSp>
      <p:sp>
        <p:nvSpPr>
          <p:cNvPr id="229" name="Google Shape;229;p17"/>
          <p:cNvSpPr/>
          <p:nvPr/>
        </p:nvSpPr>
        <p:spPr>
          <a:xfrm>
            <a:off x="6309360" y="3886200"/>
            <a:ext cx="2377440" cy="640080"/>
          </a:xfrm>
          <a:prstGeom prst="roundRect">
            <a:avLst>
              <a:gd fmla="val 11429" name="adj"/>
            </a:avLst>
          </a:prstGeom>
          <a:solidFill>
            <a:srgbClr val="FFFFFF"/>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
          <p:cNvSpPr txBox="1"/>
          <p:nvPr/>
        </p:nvSpPr>
        <p:spPr>
          <a:xfrm>
            <a:off x="6309360" y="3886200"/>
            <a:ext cx="2377440" cy="6400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565C0"/>
              </a:buClr>
              <a:buSzPts val="1100"/>
              <a:buFont typeface="Calibri"/>
              <a:buNone/>
            </a:pPr>
            <a:r>
              <a:rPr b="1" i="0" lang="en-US" sz="1100" u="none" cap="none" strike="noStrike">
                <a:solidFill>
                  <a:srgbClr val="1565C0"/>
                </a:solidFill>
                <a:latin typeface="Calibri"/>
                <a:ea typeface="Calibri"/>
                <a:cs typeface="Calibri"/>
                <a:sym typeface="Calibri"/>
              </a:rPr>
              <a:t>Better request distribution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235" name="Shape 235"/>
        <p:cNvGrpSpPr/>
        <p:nvPr/>
      </p:nvGrpSpPr>
      <p:grpSpPr>
        <a:xfrm>
          <a:off x="0" y="0"/>
          <a:ext cx="0" cy="0"/>
          <a:chOff x="0" y="0"/>
          <a:chExt cx="0" cy="0"/>
        </a:xfrm>
      </p:grpSpPr>
      <p:sp>
        <p:nvSpPr>
          <p:cNvPr id="236" name="Google Shape;236;p18"/>
          <p:cNvSpPr txBox="1"/>
          <p:nvPr/>
        </p:nvSpPr>
        <p:spPr>
          <a:xfrm>
            <a:off x="489850" y="45200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Objectives</a:t>
            </a:r>
            <a:endParaRPr b="0" i="0" sz="3200" u="none" cap="none" strike="noStrike">
              <a:solidFill>
                <a:schemeClr val="dk1"/>
              </a:solidFill>
              <a:latin typeface="Calibri"/>
              <a:ea typeface="Calibri"/>
              <a:cs typeface="Calibri"/>
              <a:sym typeface="Calibri"/>
            </a:endParaRPr>
          </a:p>
        </p:txBody>
      </p:sp>
      <p:sp>
        <p:nvSpPr>
          <p:cNvPr id="237" name="Google Shape;237;p18"/>
          <p:cNvSpPr/>
          <p:nvPr/>
        </p:nvSpPr>
        <p:spPr>
          <a:xfrm>
            <a:off x="457200" y="1151788"/>
            <a:ext cx="8229600" cy="803700"/>
          </a:xfrm>
          <a:prstGeom prst="roundRect">
            <a:avLst>
              <a:gd fmla="val 108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8"/>
          <p:cNvSpPr/>
          <p:nvPr/>
        </p:nvSpPr>
        <p:spPr>
          <a:xfrm>
            <a:off x="594360" y="1388328"/>
            <a:ext cx="457200" cy="457200"/>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
          <p:cNvSpPr txBox="1"/>
          <p:nvPr/>
        </p:nvSpPr>
        <p:spPr>
          <a:xfrm>
            <a:off x="594360" y="13883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40" name="Google Shape;240;p18"/>
          <p:cNvSpPr txBox="1"/>
          <p:nvPr/>
        </p:nvSpPr>
        <p:spPr>
          <a:xfrm>
            <a:off x="1280160" y="1252739"/>
            <a:ext cx="7223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Implement a software-based 5G Core</a:t>
            </a:r>
            <a:endParaRPr b="0" i="0" sz="1400" u="none" cap="none" strike="noStrike">
              <a:solidFill>
                <a:schemeClr val="dk1"/>
              </a:solidFill>
              <a:latin typeface="Calibri"/>
              <a:ea typeface="Calibri"/>
              <a:cs typeface="Calibri"/>
              <a:sym typeface="Calibri"/>
            </a:endParaRPr>
          </a:p>
        </p:txBody>
      </p:sp>
      <p:sp>
        <p:nvSpPr>
          <p:cNvPr id="241" name="Google Shape;241;p18"/>
          <p:cNvSpPr txBox="1"/>
          <p:nvPr/>
        </p:nvSpPr>
        <p:spPr>
          <a:xfrm>
            <a:off x="1280160" y="1616928"/>
            <a:ext cx="7223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8"/>
              </a:buClr>
              <a:buSzPts val="1200"/>
              <a:buFont typeface="Calibri"/>
              <a:buNone/>
            </a:pPr>
            <a:r>
              <a:rPr b="0" i="0" lang="en-US" sz="1200" u="none" cap="none" strike="noStrike">
                <a:solidFill>
                  <a:srgbClr val="5B6B88"/>
                </a:solidFill>
                <a:latin typeface="Calibri"/>
                <a:ea typeface="Calibri"/>
                <a:cs typeface="Calibri"/>
                <a:sym typeface="Calibri"/>
              </a:rPr>
              <a:t>Use SBA and gRPC, based on the existing open-source implementation.</a:t>
            </a:r>
            <a:endParaRPr b="0" i="0" sz="1200" u="none" cap="none" strike="noStrike">
              <a:solidFill>
                <a:schemeClr val="dk1"/>
              </a:solidFill>
              <a:latin typeface="Calibri"/>
              <a:ea typeface="Calibri"/>
              <a:cs typeface="Calibri"/>
              <a:sym typeface="Calibri"/>
            </a:endParaRPr>
          </a:p>
        </p:txBody>
      </p:sp>
      <p:sp>
        <p:nvSpPr>
          <p:cNvPr id="242" name="Google Shape;242;p18"/>
          <p:cNvSpPr/>
          <p:nvPr/>
        </p:nvSpPr>
        <p:spPr>
          <a:xfrm>
            <a:off x="457200" y="2127344"/>
            <a:ext cx="8229600" cy="1124700"/>
          </a:xfrm>
          <a:prstGeom prst="roundRect">
            <a:avLst>
              <a:gd fmla="val 108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
          <p:cNvSpPr/>
          <p:nvPr/>
        </p:nvSpPr>
        <p:spPr>
          <a:xfrm>
            <a:off x="561710" y="2456712"/>
            <a:ext cx="457200" cy="4572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txBox="1"/>
          <p:nvPr/>
        </p:nvSpPr>
        <p:spPr>
          <a:xfrm>
            <a:off x="561710" y="24611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45" name="Google Shape;245;p18"/>
          <p:cNvSpPr txBox="1"/>
          <p:nvPr/>
        </p:nvSpPr>
        <p:spPr>
          <a:xfrm>
            <a:off x="1240985" y="2318073"/>
            <a:ext cx="7223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Deploy multiple NF instances , </a:t>
            </a:r>
            <a:r>
              <a:rPr b="1" lang="en-US">
                <a:solidFill>
                  <a:srgbClr val="0A1F44"/>
                </a:solidFill>
                <a:latin typeface="Calibri"/>
                <a:ea typeface="Calibri"/>
                <a:cs typeface="Calibri"/>
                <a:sym typeface="Calibri"/>
              </a:rPr>
              <a:t>Implement load-balancing approaches</a:t>
            </a:r>
            <a:endParaRPr>
              <a:solidFill>
                <a:schemeClr val="dk1"/>
              </a:solidFill>
              <a:latin typeface="Calibri"/>
              <a:ea typeface="Calibri"/>
              <a:cs typeface="Calibri"/>
              <a:sym typeface="Calibri"/>
            </a:endParaRPr>
          </a:p>
          <a:p>
            <a:pPr indent="0" lvl="0" marL="0" marR="0" rtl="0" algn="l">
              <a:spcBef>
                <a:spcPts val="0"/>
              </a:spcBef>
              <a:spcAft>
                <a:spcPts val="0"/>
              </a:spcAft>
              <a:buClr>
                <a:srgbClr val="0A1F44"/>
              </a:buClr>
              <a:buSzPts val="1400"/>
              <a:buFont typeface="Calibri"/>
              <a:buNone/>
            </a:pPr>
            <a:r>
              <a:t/>
            </a:r>
            <a:endParaRPr b="1">
              <a:solidFill>
                <a:srgbClr val="0A1F44"/>
              </a:solidFill>
              <a:latin typeface="Calibri"/>
              <a:ea typeface="Calibri"/>
              <a:cs typeface="Calibri"/>
              <a:sym typeface="Calibri"/>
            </a:endParaRPr>
          </a:p>
        </p:txBody>
      </p:sp>
      <p:sp>
        <p:nvSpPr>
          <p:cNvPr id="246" name="Google Shape;246;p18"/>
          <p:cNvSpPr txBox="1"/>
          <p:nvPr/>
        </p:nvSpPr>
        <p:spPr>
          <a:xfrm>
            <a:off x="1280150" y="2507350"/>
            <a:ext cx="7223700" cy="607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B6B88"/>
              </a:buClr>
              <a:buSzPts val="1200"/>
              <a:buFont typeface="Calibri"/>
              <a:buNone/>
            </a:pPr>
            <a:r>
              <a:rPr lang="en-US" sz="1200">
                <a:solidFill>
                  <a:srgbClr val="5B6B88"/>
                </a:solidFill>
                <a:latin typeface="Calibri"/>
                <a:ea typeface="Calibri"/>
                <a:cs typeface="Calibri"/>
                <a:sym typeface="Calibri"/>
              </a:rPr>
              <a:t>Run instances of selected 5G Core NFs so requests can be shared. Round Robin, Random selection, and Least-load / Least-connections.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5B6B88"/>
              </a:buClr>
              <a:buSzPts val="1200"/>
              <a:buFont typeface="Calibri"/>
              <a:buNone/>
            </a:pPr>
            <a:r>
              <a:t/>
            </a:r>
            <a:endParaRPr sz="1200">
              <a:solidFill>
                <a:srgbClr val="5B6B88"/>
              </a:solidFill>
              <a:latin typeface="Calibri"/>
              <a:ea typeface="Calibri"/>
              <a:cs typeface="Calibri"/>
              <a:sym typeface="Calibri"/>
            </a:endParaRPr>
          </a:p>
        </p:txBody>
      </p:sp>
      <p:sp>
        <p:nvSpPr>
          <p:cNvPr id="247" name="Google Shape;247;p18"/>
          <p:cNvSpPr/>
          <p:nvPr/>
        </p:nvSpPr>
        <p:spPr>
          <a:xfrm>
            <a:off x="457200" y="3383425"/>
            <a:ext cx="8229600" cy="1124700"/>
          </a:xfrm>
          <a:prstGeom prst="roundRect">
            <a:avLst>
              <a:gd fmla="val 108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p:nvPr/>
        </p:nvSpPr>
        <p:spPr>
          <a:xfrm>
            <a:off x="594360" y="3513830"/>
            <a:ext cx="457200" cy="4572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
          <p:cNvSpPr txBox="1"/>
          <p:nvPr/>
        </p:nvSpPr>
        <p:spPr>
          <a:xfrm>
            <a:off x="594360" y="34811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50" name="Google Shape;250;p18"/>
          <p:cNvSpPr txBox="1"/>
          <p:nvPr/>
        </p:nvSpPr>
        <p:spPr>
          <a:xfrm>
            <a:off x="1280150" y="3552875"/>
            <a:ext cx="7223700" cy="31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Evaluate performance, </a:t>
            </a:r>
            <a:r>
              <a:rPr b="1" lang="en-US">
                <a:solidFill>
                  <a:srgbClr val="0A1F44"/>
                </a:solidFill>
                <a:latin typeface="Calibri"/>
                <a:ea typeface="Calibri"/>
                <a:cs typeface="Calibri"/>
                <a:sym typeface="Calibri"/>
              </a:rPr>
              <a:t>Compare and analyze</a:t>
            </a:r>
            <a:endParaRPr>
              <a:solidFill>
                <a:schemeClr val="dk1"/>
              </a:solidFill>
              <a:latin typeface="Calibri"/>
              <a:ea typeface="Calibri"/>
              <a:cs typeface="Calibri"/>
              <a:sym typeface="Calibri"/>
            </a:endParaRPr>
          </a:p>
          <a:p>
            <a:pPr indent="0" lvl="0" marL="0" marR="0" rtl="0" algn="l">
              <a:spcBef>
                <a:spcPts val="0"/>
              </a:spcBef>
              <a:spcAft>
                <a:spcPts val="0"/>
              </a:spcAft>
              <a:buClr>
                <a:srgbClr val="0A1F44"/>
              </a:buClr>
              <a:buSzPts val="1400"/>
              <a:buFont typeface="Calibri"/>
              <a:buNone/>
            </a:pPr>
            <a:r>
              <a:t/>
            </a:r>
            <a:endParaRPr b="1">
              <a:solidFill>
                <a:srgbClr val="0A1F44"/>
              </a:solidFill>
              <a:latin typeface="Calibri"/>
              <a:ea typeface="Calibri"/>
              <a:cs typeface="Calibri"/>
              <a:sym typeface="Calibri"/>
            </a:endParaRPr>
          </a:p>
        </p:txBody>
      </p:sp>
      <p:sp>
        <p:nvSpPr>
          <p:cNvPr id="251" name="Google Shape;251;p18"/>
          <p:cNvSpPr txBox="1"/>
          <p:nvPr/>
        </p:nvSpPr>
        <p:spPr>
          <a:xfrm>
            <a:off x="1280150" y="3852450"/>
            <a:ext cx="7223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8"/>
              </a:buClr>
              <a:buSzPts val="1200"/>
              <a:buFont typeface="Calibri"/>
              <a:buNone/>
            </a:pPr>
            <a:r>
              <a:rPr b="0" i="0" lang="en-US" sz="1200" u="none" cap="none" strike="noStrike">
                <a:solidFill>
                  <a:srgbClr val="5B6B88"/>
                </a:solidFill>
                <a:latin typeface="Calibri"/>
                <a:ea typeface="Calibri"/>
                <a:cs typeface="Calibri"/>
                <a:sym typeface="Calibri"/>
              </a:rPr>
              <a:t>Throughput, latency, request loss, CPU, memory, and request distribution. </a:t>
            </a:r>
            <a:r>
              <a:rPr lang="en-US" sz="1200">
                <a:solidFill>
                  <a:srgbClr val="5B6B88"/>
                </a:solidFill>
                <a:latin typeface="Calibri"/>
                <a:ea typeface="Calibri"/>
                <a:cs typeface="Calibri"/>
                <a:sym typeface="Calibri"/>
              </a:rPr>
              <a:t>Study how the load-balancing choice affects performance and resource use.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5B6B88"/>
              </a:buClr>
              <a:buSzPts val="1200"/>
              <a:buFont typeface="Calibri"/>
              <a:buNone/>
            </a:pPr>
            <a:r>
              <a:t/>
            </a:r>
            <a:endParaRPr sz="1200">
              <a:solidFill>
                <a:srgbClr val="5B6B8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256" name="Shape 256"/>
        <p:cNvGrpSpPr/>
        <p:nvPr/>
      </p:nvGrpSpPr>
      <p:grpSpPr>
        <a:xfrm>
          <a:off x="0" y="0"/>
          <a:ext cx="0" cy="0"/>
          <a:chOff x="0" y="0"/>
          <a:chExt cx="0" cy="0"/>
        </a:xfrm>
      </p:grpSpPr>
      <p:sp>
        <p:nvSpPr>
          <p:cNvPr id="257" name="Google Shape;257;p19"/>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Methodology</a:t>
            </a:r>
            <a:endParaRPr b="0" i="0" sz="3200" u="none" cap="none" strike="noStrike">
              <a:solidFill>
                <a:schemeClr val="dk1"/>
              </a:solidFill>
              <a:latin typeface="Calibri"/>
              <a:ea typeface="Calibri"/>
              <a:cs typeface="Calibri"/>
              <a:sym typeface="Calibri"/>
            </a:endParaRPr>
          </a:p>
        </p:txBody>
      </p:sp>
      <p:sp>
        <p:nvSpPr>
          <p:cNvPr id="258" name="Google Shape;258;p19"/>
          <p:cNvSpPr txBox="1"/>
          <p:nvPr/>
        </p:nvSpPr>
        <p:spPr>
          <a:xfrm>
            <a:off x="457200" y="777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1" lang="en-US" sz="1200" u="none" cap="none" strike="noStrike">
                <a:solidFill>
                  <a:srgbClr val="1565C0"/>
                </a:solidFill>
                <a:latin typeface="Calibri"/>
                <a:ea typeface="Calibri"/>
                <a:cs typeface="Calibri"/>
                <a:sym typeface="Calibri"/>
              </a:rPr>
              <a:t>Proposed system architecture and experimental plan</a:t>
            </a:r>
            <a:endParaRPr b="0" i="0" sz="1200" u="none" cap="none" strike="noStrike">
              <a:solidFill>
                <a:schemeClr val="dk1"/>
              </a:solidFill>
              <a:latin typeface="Calibri"/>
              <a:ea typeface="Calibri"/>
              <a:cs typeface="Calibri"/>
              <a:sym typeface="Calibri"/>
            </a:endParaRPr>
          </a:p>
        </p:txBody>
      </p:sp>
      <p:sp>
        <p:nvSpPr>
          <p:cNvPr id="259" name="Google Shape;259;p19"/>
          <p:cNvSpPr/>
          <p:nvPr/>
        </p:nvSpPr>
        <p:spPr>
          <a:xfrm>
            <a:off x="365760" y="1691640"/>
            <a:ext cx="1188720" cy="548640"/>
          </a:xfrm>
          <a:prstGeom prst="roundRect">
            <a:avLst>
              <a:gd fmla="val 13333" name="adj"/>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txBox="1"/>
          <p:nvPr/>
        </p:nvSpPr>
        <p:spPr>
          <a:xfrm>
            <a:off x="365760" y="1691640"/>
            <a:ext cx="118872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RAN Simulator</a:t>
            </a:r>
            <a:endParaRPr b="0" i="0" sz="1100" u="none" cap="none" strike="noStrike">
              <a:solidFill>
                <a:schemeClr val="dk1"/>
              </a:solidFill>
              <a:latin typeface="Calibri"/>
              <a:ea typeface="Calibri"/>
              <a:cs typeface="Calibri"/>
              <a:sym typeface="Calibri"/>
            </a:endParaRPr>
          </a:p>
        </p:txBody>
      </p:sp>
      <p:cxnSp>
        <p:nvCxnSpPr>
          <p:cNvPr id="261" name="Google Shape;261;p19"/>
          <p:cNvCxnSpPr/>
          <p:nvPr/>
        </p:nvCxnSpPr>
        <p:spPr>
          <a:xfrm>
            <a:off x="1554480" y="1965960"/>
            <a:ext cx="274320" cy="0"/>
          </a:xfrm>
          <a:prstGeom prst="straightConnector1">
            <a:avLst/>
          </a:prstGeom>
          <a:noFill/>
          <a:ln cap="flat" cmpd="sng" w="25400">
            <a:solidFill>
              <a:srgbClr val="1565C0"/>
            </a:solidFill>
            <a:prstDash val="solid"/>
            <a:round/>
            <a:headEnd len="sm" w="sm" type="none"/>
            <a:tailEnd len="med" w="med" type="triangle"/>
          </a:ln>
        </p:spPr>
      </p:cxnSp>
      <p:sp>
        <p:nvSpPr>
          <p:cNvPr id="262" name="Google Shape;262;p19"/>
          <p:cNvSpPr/>
          <p:nvPr/>
        </p:nvSpPr>
        <p:spPr>
          <a:xfrm>
            <a:off x="1828800" y="1691640"/>
            <a:ext cx="822960" cy="548640"/>
          </a:xfrm>
          <a:prstGeom prst="roundRect">
            <a:avLst>
              <a:gd fmla="val 13333"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txBox="1"/>
          <p:nvPr/>
        </p:nvSpPr>
        <p:spPr>
          <a:xfrm>
            <a:off x="1828800" y="1691640"/>
            <a:ext cx="82296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AMF</a:t>
            </a:r>
            <a:endParaRPr b="0" i="0" sz="1100" u="none" cap="none" strike="noStrike">
              <a:solidFill>
                <a:schemeClr val="dk1"/>
              </a:solidFill>
              <a:latin typeface="Calibri"/>
              <a:ea typeface="Calibri"/>
              <a:cs typeface="Calibri"/>
              <a:sym typeface="Calibri"/>
            </a:endParaRPr>
          </a:p>
        </p:txBody>
      </p:sp>
      <p:cxnSp>
        <p:nvCxnSpPr>
          <p:cNvPr id="264" name="Google Shape;264;p19"/>
          <p:cNvCxnSpPr/>
          <p:nvPr/>
        </p:nvCxnSpPr>
        <p:spPr>
          <a:xfrm>
            <a:off x="2651760" y="1965960"/>
            <a:ext cx="274320" cy="0"/>
          </a:xfrm>
          <a:prstGeom prst="straightConnector1">
            <a:avLst/>
          </a:prstGeom>
          <a:noFill/>
          <a:ln cap="flat" cmpd="sng" w="25400">
            <a:solidFill>
              <a:srgbClr val="1565C0"/>
            </a:solidFill>
            <a:prstDash val="solid"/>
            <a:round/>
            <a:headEnd len="sm" w="sm" type="none"/>
            <a:tailEnd len="med" w="med" type="triangle"/>
          </a:ln>
        </p:spPr>
      </p:cxnSp>
      <p:sp>
        <p:nvSpPr>
          <p:cNvPr id="265" name="Google Shape;265;p19"/>
          <p:cNvSpPr/>
          <p:nvPr/>
        </p:nvSpPr>
        <p:spPr>
          <a:xfrm>
            <a:off x="2926080" y="1691640"/>
            <a:ext cx="1097280" cy="548640"/>
          </a:xfrm>
          <a:prstGeom prst="roundRect">
            <a:avLst>
              <a:gd fmla="val 13333"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txBox="1"/>
          <p:nvPr/>
        </p:nvSpPr>
        <p:spPr>
          <a:xfrm>
            <a:off x="2926080" y="1691640"/>
            <a:ext cx="109728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Load Balancer</a:t>
            </a:r>
            <a:endParaRPr b="0" i="0" sz="1100" u="none" cap="none" strike="noStrike">
              <a:solidFill>
                <a:schemeClr val="dk1"/>
              </a:solidFill>
              <a:latin typeface="Calibri"/>
              <a:ea typeface="Calibri"/>
              <a:cs typeface="Calibri"/>
              <a:sym typeface="Calibri"/>
            </a:endParaRPr>
          </a:p>
        </p:txBody>
      </p:sp>
      <p:sp>
        <p:nvSpPr>
          <p:cNvPr id="267" name="Google Shape;267;p19"/>
          <p:cNvSpPr/>
          <p:nvPr/>
        </p:nvSpPr>
        <p:spPr>
          <a:xfrm>
            <a:off x="4389120" y="1234440"/>
            <a:ext cx="1463040" cy="411480"/>
          </a:xfrm>
          <a:prstGeom prst="roundRect">
            <a:avLst>
              <a:gd fmla="val 17778" name="adj"/>
            </a:avLst>
          </a:prstGeom>
          <a:solidFill>
            <a:srgbClr val="13336B"/>
          </a:solidFill>
          <a:ln cap="flat" cmpd="sng" w="12700">
            <a:solidFill>
              <a:srgbClr val="1333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txBox="1"/>
          <p:nvPr/>
        </p:nvSpPr>
        <p:spPr>
          <a:xfrm>
            <a:off x="4389120" y="1234440"/>
            <a:ext cx="1463040" cy="4114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1</a:t>
            </a:r>
            <a:endParaRPr b="0" i="0" sz="1000" u="none" cap="none" strike="noStrike">
              <a:solidFill>
                <a:schemeClr val="dk1"/>
              </a:solidFill>
              <a:latin typeface="Calibri"/>
              <a:ea typeface="Calibri"/>
              <a:cs typeface="Calibri"/>
              <a:sym typeface="Calibri"/>
            </a:endParaRPr>
          </a:p>
        </p:txBody>
      </p:sp>
      <p:cxnSp>
        <p:nvCxnSpPr>
          <p:cNvPr id="269" name="Google Shape;269;p19"/>
          <p:cNvCxnSpPr/>
          <p:nvPr/>
        </p:nvCxnSpPr>
        <p:spPr>
          <a:xfrm flipH="1" rot="10800000">
            <a:off x="4023360" y="1440180"/>
            <a:ext cx="365760" cy="525780"/>
          </a:xfrm>
          <a:prstGeom prst="straightConnector1">
            <a:avLst/>
          </a:prstGeom>
          <a:noFill/>
          <a:ln cap="flat" cmpd="sng" w="19050">
            <a:solidFill>
              <a:srgbClr val="1565C0"/>
            </a:solidFill>
            <a:prstDash val="solid"/>
            <a:round/>
            <a:headEnd len="sm" w="sm" type="none"/>
            <a:tailEnd len="med" w="med" type="triangle"/>
          </a:ln>
        </p:spPr>
      </p:cxnSp>
      <p:cxnSp>
        <p:nvCxnSpPr>
          <p:cNvPr id="270" name="Google Shape;270;p19"/>
          <p:cNvCxnSpPr/>
          <p:nvPr/>
        </p:nvCxnSpPr>
        <p:spPr>
          <a:xfrm>
            <a:off x="5852160" y="1440180"/>
            <a:ext cx="365760" cy="525780"/>
          </a:xfrm>
          <a:prstGeom prst="straightConnector1">
            <a:avLst/>
          </a:prstGeom>
          <a:noFill/>
          <a:ln cap="flat" cmpd="sng" w="19050">
            <a:solidFill>
              <a:srgbClr val="1565C0"/>
            </a:solidFill>
            <a:prstDash val="solid"/>
            <a:round/>
            <a:headEnd len="sm" w="sm" type="none"/>
            <a:tailEnd len="med" w="med" type="triangle"/>
          </a:ln>
        </p:spPr>
      </p:cxnSp>
      <p:sp>
        <p:nvSpPr>
          <p:cNvPr id="271" name="Google Shape;271;p19"/>
          <p:cNvSpPr/>
          <p:nvPr/>
        </p:nvSpPr>
        <p:spPr>
          <a:xfrm>
            <a:off x="4389120" y="1737360"/>
            <a:ext cx="1463040" cy="411480"/>
          </a:xfrm>
          <a:prstGeom prst="roundRect">
            <a:avLst>
              <a:gd fmla="val 17778" name="adj"/>
            </a:avLst>
          </a:prstGeom>
          <a:solidFill>
            <a:srgbClr val="13336B"/>
          </a:solidFill>
          <a:ln cap="flat" cmpd="sng" w="12700">
            <a:solidFill>
              <a:srgbClr val="1333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txBox="1"/>
          <p:nvPr/>
        </p:nvSpPr>
        <p:spPr>
          <a:xfrm>
            <a:off x="4389120" y="1737360"/>
            <a:ext cx="1463040" cy="4114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2</a:t>
            </a:r>
            <a:endParaRPr b="0" i="0" sz="1000" u="none" cap="none" strike="noStrike">
              <a:solidFill>
                <a:schemeClr val="dk1"/>
              </a:solidFill>
              <a:latin typeface="Calibri"/>
              <a:ea typeface="Calibri"/>
              <a:cs typeface="Calibri"/>
              <a:sym typeface="Calibri"/>
            </a:endParaRPr>
          </a:p>
        </p:txBody>
      </p:sp>
      <p:cxnSp>
        <p:nvCxnSpPr>
          <p:cNvPr id="273" name="Google Shape;273;p19"/>
          <p:cNvCxnSpPr/>
          <p:nvPr/>
        </p:nvCxnSpPr>
        <p:spPr>
          <a:xfrm flipH="1" rot="10800000">
            <a:off x="4023360" y="1943100"/>
            <a:ext cx="365760" cy="22860"/>
          </a:xfrm>
          <a:prstGeom prst="straightConnector1">
            <a:avLst/>
          </a:prstGeom>
          <a:noFill/>
          <a:ln cap="flat" cmpd="sng" w="19050">
            <a:solidFill>
              <a:srgbClr val="1565C0"/>
            </a:solidFill>
            <a:prstDash val="solid"/>
            <a:round/>
            <a:headEnd len="sm" w="sm" type="none"/>
            <a:tailEnd len="med" w="med" type="triangle"/>
          </a:ln>
        </p:spPr>
      </p:cxnSp>
      <p:cxnSp>
        <p:nvCxnSpPr>
          <p:cNvPr id="274" name="Google Shape;274;p19"/>
          <p:cNvCxnSpPr/>
          <p:nvPr/>
        </p:nvCxnSpPr>
        <p:spPr>
          <a:xfrm>
            <a:off x="5852160" y="1943100"/>
            <a:ext cx="365760" cy="22860"/>
          </a:xfrm>
          <a:prstGeom prst="straightConnector1">
            <a:avLst/>
          </a:prstGeom>
          <a:noFill/>
          <a:ln cap="flat" cmpd="sng" w="19050">
            <a:solidFill>
              <a:srgbClr val="1565C0"/>
            </a:solidFill>
            <a:prstDash val="solid"/>
            <a:round/>
            <a:headEnd len="sm" w="sm" type="none"/>
            <a:tailEnd len="med" w="med" type="triangle"/>
          </a:ln>
        </p:spPr>
      </p:cxnSp>
      <p:sp>
        <p:nvSpPr>
          <p:cNvPr id="275" name="Google Shape;275;p19"/>
          <p:cNvSpPr/>
          <p:nvPr/>
        </p:nvSpPr>
        <p:spPr>
          <a:xfrm>
            <a:off x="4389120" y="2240280"/>
            <a:ext cx="1463040" cy="411480"/>
          </a:xfrm>
          <a:prstGeom prst="roundRect">
            <a:avLst>
              <a:gd fmla="val 17778" name="adj"/>
            </a:avLst>
          </a:prstGeom>
          <a:solidFill>
            <a:srgbClr val="13336B"/>
          </a:solidFill>
          <a:ln cap="flat" cmpd="sng" w="12700">
            <a:solidFill>
              <a:srgbClr val="1333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txBox="1"/>
          <p:nvPr/>
        </p:nvSpPr>
        <p:spPr>
          <a:xfrm>
            <a:off x="4389120" y="2240280"/>
            <a:ext cx="1463040" cy="41148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Service Instance 3</a:t>
            </a:r>
            <a:endParaRPr b="0" i="0" sz="1000" u="none" cap="none" strike="noStrike">
              <a:solidFill>
                <a:schemeClr val="dk1"/>
              </a:solidFill>
              <a:latin typeface="Calibri"/>
              <a:ea typeface="Calibri"/>
              <a:cs typeface="Calibri"/>
              <a:sym typeface="Calibri"/>
            </a:endParaRPr>
          </a:p>
        </p:txBody>
      </p:sp>
      <p:cxnSp>
        <p:nvCxnSpPr>
          <p:cNvPr id="277" name="Google Shape;277;p19"/>
          <p:cNvCxnSpPr/>
          <p:nvPr/>
        </p:nvCxnSpPr>
        <p:spPr>
          <a:xfrm>
            <a:off x="4023360" y="1965960"/>
            <a:ext cx="365760" cy="480060"/>
          </a:xfrm>
          <a:prstGeom prst="straightConnector1">
            <a:avLst/>
          </a:prstGeom>
          <a:noFill/>
          <a:ln cap="flat" cmpd="sng" w="19050">
            <a:solidFill>
              <a:srgbClr val="1565C0"/>
            </a:solidFill>
            <a:prstDash val="solid"/>
            <a:round/>
            <a:headEnd len="sm" w="sm" type="none"/>
            <a:tailEnd len="med" w="med" type="triangle"/>
          </a:ln>
        </p:spPr>
      </p:cxnSp>
      <p:cxnSp>
        <p:nvCxnSpPr>
          <p:cNvPr id="278" name="Google Shape;278;p19"/>
          <p:cNvCxnSpPr/>
          <p:nvPr/>
        </p:nvCxnSpPr>
        <p:spPr>
          <a:xfrm flipH="1" rot="10800000">
            <a:off x="5852160" y="1965960"/>
            <a:ext cx="365760" cy="480060"/>
          </a:xfrm>
          <a:prstGeom prst="straightConnector1">
            <a:avLst/>
          </a:prstGeom>
          <a:noFill/>
          <a:ln cap="flat" cmpd="sng" w="19050">
            <a:solidFill>
              <a:srgbClr val="1565C0"/>
            </a:solidFill>
            <a:prstDash val="solid"/>
            <a:round/>
            <a:headEnd len="sm" w="sm" type="none"/>
            <a:tailEnd len="med" w="med" type="triangle"/>
          </a:ln>
        </p:spPr>
      </p:cxnSp>
      <p:sp>
        <p:nvSpPr>
          <p:cNvPr id="279" name="Google Shape;279;p19"/>
          <p:cNvSpPr/>
          <p:nvPr/>
        </p:nvSpPr>
        <p:spPr>
          <a:xfrm>
            <a:off x="6217920" y="1691640"/>
            <a:ext cx="914400" cy="548640"/>
          </a:xfrm>
          <a:prstGeom prst="roundRect">
            <a:avLst>
              <a:gd fmla="val 13333" name="adj"/>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txBox="1"/>
          <p:nvPr/>
        </p:nvSpPr>
        <p:spPr>
          <a:xfrm>
            <a:off x="6217920" y="1691640"/>
            <a:ext cx="91440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UPF</a:t>
            </a:r>
            <a:endParaRPr b="0" i="0" sz="1100" u="none" cap="none" strike="noStrike">
              <a:solidFill>
                <a:schemeClr val="dk1"/>
              </a:solidFill>
              <a:latin typeface="Calibri"/>
              <a:ea typeface="Calibri"/>
              <a:cs typeface="Calibri"/>
              <a:sym typeface="Calibri"/>
            </a:endParaRPr>
          </a:p>
        </p:txBody>
      </p:sp>
      <p:cxnSp>
        <p:nvCxnSpPr>
          <p:cNvPr id="281" name="Google Shape;281;p19"/>
          <p:cNvCxnSpPr/>
          <p:nvPr/>
        </p:nvCxnSpPr>
        <p:spPr>
          <a:xfrm>
            <a:off x="7132320" y="1965960"/>
            <a:ext cx="365760" cy="0"/>
          </a:xfrm>
          <a:prstGeom prst="straightConnector1">
            <a:avLst/>
          </a:prstGeom>
          <a:noFill/>
          <a:ln cap="flat" cmpd="sng" w="25400">
            <a:solidFill>
              <a:srgbClr val="1565C0"/>
            </a:solidFill>
            <a:prstDash val="solid"/>
            <a:round/>
            <a:headEnd len="sm" w="sm" type="none"/>
            <a:tailEnd len="med" w="med" type="triangle"/>
          </a:ln>
        </p:spPr>
      </p:cxnSp>
      <p:sp>
        <p:nvSpPr>
          <p:cNvPr id="282" name="Google Shape;282;p19"/>
          <p:cNvSpPr/>
          <p:nvPr/>
        </p:nvSpPr>
        <p:spPr>
          <a:xfrm>
            <a:off x="7498080" y="1691640"/>
            <a:ext cx="1097280" cy="548640"/>
          </a:xfrm>
          <a:prstGeom prst="roundRect">
            <a:avLst>
              <a:gd fmla="val 13333" name="adj"/>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txBox="1"/>
          <p:nvPr/>
        </p:nvSpPr>
        <p:spPr>
          <a:xfrm>
            <a:off x="7498080" y="1691640"/>
            <a:ext cx="109728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Sink</a:t>
            </a:r>
            <a:endParaRPr b="0" i="0" sz="1100" u="none" cap="none" strike="noStrike">
              <a:solidFill>
                <a:schemeClr val="dk1"/>
              </a:solidFill>
              <a:latin typeface="Calibri"/>
              <a:ea typeface="Calibri"/>
              <a:cs typeface="Calibri"/>
              <a:sym typeface="Calibri"/>
            </a:endParaRPr>
          </a:p>
        </p:txBody>
      </p:sp>
      <p:sp>
        <p:nvSpPr>
          <p:cNvPr id="284" name="Google Shape;284;p19"/>
          <p:cNvSpPr/>
          <p:nvPr/>
        </p:nvSpPr>
        <p:spPr>
          <a:xfrm>
            <a:off x="411480"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502920" y="2971800"/>
            <a:ext cx="347472" cy="347472"/>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txBox="1"/>
          <p:nvPr/>
        </p:nvSpPr>
        <p:spPr>
          <a:xfrm>
            <a:off x="502920"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87" name="Google Shape;287;p19"/>
          <p:cNvSpPr txBox="1"/>
          <p:nvPr/>
        </p:nvSpPr>
        <p:spPr>
          <a:xfrm>
            <a:off x="886968"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Build Environment</a:t>
            </a:r>
            <a:endParaRPr b="0" i="0" sz="1100" u="none" cap="none" strike="noStrike">
              <a:solidFill>
                <a:schemeClr val="dk1"/>
              </a:solidFill>
              <a:latin typeface="Calibri"/>
              <a:ea typeface="Calibri"/>
              <a:cs typeface="Calibri"/>
              <a:sym typeface="Calibri"/>
            </a:endParaRPr>
          </a:p>
        </p:txBody>
      </p:sp>
      <p:sp>
        <p:nvSpPr>
          <p:cNvPr id="288" name="Google Shape;288;p19"/>
          <p:cNvSpPr txBox="1"/>
          <p:nvPr/>
        </p:nvSpPr>
        <p:spPr>
          <a:xfrm>
            <a:off x="502920"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Set up the 5G Core using Docker and the SBA-gRPC code.</a:t>
            </a:r>
            <a:endParaRPr b="0" i="0" sz="1050" u="none" cap="none" strike="noStrike">
              <a:solidFill>
                <a:schemeClr val="dk1"/>
              </a:solidFill>
              <a:latin typeface="Calibri"/>
              <a:ea typeface="Calibri"/>
              <a:cs typeface="Calibri"/>
              <a:sym typeface="Calibri"/>
            </a:endParaRPr>
          </a:p>
        </p:txBody>
      </p:sp>
      <p:sp>
        <p:nvSpPr>
          <p:cNvPr id="289" name="Google Shape;289;p19"/>
          <p:cNvSpPr/>
          <p:nvPr/>
        </p:nvSpPr>
        <p:spPr>
          <a:xfrm>
            <a:off x="2093976"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p:nvPr/>
        </p:nvSpPr>
        <p:spPr>
          <a:xfrm>
            <a:off x="2185416" y="2971800"/>
            <a:ext cx="347472" cy="347472"/>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txBox="1"/>
          <p:nvPr/>
        </p:nvSpPr>
        <p:spPr>
          <a:xfrm>
            <a:off x="2185416"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92" name="Google Shape;292;p19"/>
          <p:cNvSpPr txBox="1"/>
          <p:nvPr/>
        </p:nvSpPr>
        <p:spPr>
          <a:xfrm>
            <a:off x="2569464"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Deploy NFs</a:t>
            </a:r>
            <a:endParaRPr b="0" i="0" sz="1100" u="none" cap="none" strike="noStrike">
              <a:solidFill>
                <a:schemeClr val="dk1"/>
              </a:solidFill>
              <a:latin typeface="Calibri"/>
              <a:ea typeface="Calibri"/>
              <a:cs typeface="Calibri"/>
              <a:sym typeface="Calibri"/>
            </a:endParaRPr>
          </a:p>
        </p:txBody>
      </p:sp>
      <p:sp>
        <p:nvSpPr>
          <p:cNvPr id="293" name="Google Shape;293;p19"/>
          <p:cNvSpPr txBox="1"/>
          <p:nvPr/>
        </p:nvSpPr>
        <p:spPr>
          <a:xfrm>
            <a:off x="2185416"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Run RAN simulator, AMF, SMF, AUSF, UPF and Sink.</a:t>
            </a:r>
            <a:endParaRPr b="0" i="0" sz="1050" u="none" cap="none" strike="noStrike">
              <a:solidFill>
                <a:schemeClr val="dk1"/>
              </a:solidFill>
              <a:latin typeface="Calibri"/>
              <a:ea typeface="Calibri"/>
              <a:cs typeface="Calibri"/>
              <a:sym typeface="Calibri"/>
            </a:endParaRPr>
          </a:p>
        </p:txBody>
      </p:sp>
      <p:sp>
        <p:nvSpPr>
          <p:cNvPr id="294" name="Google Shape;294;p19"/>
          <p:cNvSpPr/>
          <p:nvPr/>
        </p:nvSpPr>
        <p:spPr>
          <a:xfrm>
            <a:off x="3776472"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3867912" y="2971800"/>
            <a:ext cx="347472" cy="347472"/>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
          <p:cNvSpPr txBox="1"/>
          <p:nvPr/>
        </p:nvSpPr>
        <p:spPr>
          <a:xfrm>
            <a:off x="3867912"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97" name="Google Shape;297;p19"/>
          <p:cNvSpPr txBox="1"/>
          <p:nvPr/>
        </p:nvSpPr>
        <p:spPr>
          <a:xfrm>
            <a:off x="4251960"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Create Instances</a:t>
            </a:r>
            <a:endParaRPr b="0" i="0" sz="1100" u="none" cap="none" strike="noStrike">
              <a:solidFill>
                <a:schemeClr val="dk1"/>
              </a:solidFill>
              <a:latin typeface="Calibri"/>
              <a:ea typeface="Calibri"/>
              <a:cs typeface="Calibri"/>
              <a:sym typeface="Calibri"/>
            </a:endParaRPr>
          </a:p>
        </p:txBody>
      </p:sp>
      <p:sp>
        <p:nvSpPr>
          <p:cNvPr id="298" name="Google Shape;298;p19"/>
          <p:cNvSpPr txBox="1"/>
          <p:nvPr/>
        </p:nvSpPr>
        <p:spPr>
          <a:xfrm>
            <a:off x="3867912"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Run multiple instances of a selected NF.</a:t>
            </a:r>
            <a:endParaRPr b="0" i="0" sz="1050" u="none" cap="none" strike="noStrike">
              <a:solidFill>
                <a:schemeClr val="dk1"/>
              </a:solidFill>
              <a:latin typeface="Calibri"/>
              <a:ea typeface="Calibri"/>
              <a:cs typeface="Calibri"/>
              <a:sym typeface="Calibri"/>
            </a:endParaRPr>
          </a:p>
        </p:txBody>
      </p:sp>
      <p:sp>
        <p:nvSpPr>
          <p:cNvPr id="299" name="Google Shape;299;p19"/>
          <p:cNvSpPr/>
          <p:nvPr/>
        </p:nvSpPr>
        <p:spPr>
          <a:xfrm>
            <a:off x="5458968"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9"/>
          <p:cNvSpPr/>
          <p:nvPr/>
        </p:nvSpPr>
        <p:spPr>
          <a:xfrm>
            <a:off x="5550408" y="2971800"/>
            <a:ext cx="347472" cy="347472"/>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txBox="1"/>
          <p:nvPr/>
        </p:nvSpPr>
        <p:spPr>
          <a:xfrm>
            <a:off x="5550408"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02" name="Google Shape;302;p19"/>
          <p:cNvSpPr txBox="1"/>
          <p:nvPr/>
        </p:nvSpPr>
        <p:spPr>
          <a:xfrm>
            <a:off x="5934456"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Apply Algorithms</a:t>
            </a:r>
            <a:endParaRPr b="0" i="0" sz="1100" u="none" cap="none" strike="noStrike">
              <a:solidFill>
                <a:schemeClr val="dk1"/>
              </a:solidFill>
              <a:latin typeface="Calibri"/>
              <a:ea typeface="Calibri"/>
              <a:cs typeface="Calibri"/>
              <a:sym typeface="Calibri"/>
            </a:endParaRPr>
          </a:p>
        </p:txBody>
      </p:sp>
      <p:sp>
        <p:nvSpPr>
          <p:cNvPr id="303" name="Google Shape;303;p19"/>
          <p:cNvSpPr txBox="1"/>
          <p:nvPr/>
        </p:nvSpPr>
        <p:spPr>
          <a:xfrm>
            <a:off x="5550408"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Round Robin, Random, Least Load. Keep traffic controlled so only the method changes.</a:t>
            </a:r>
            <a:endParaRPr b="0" i="0" sz="1050" u="none" cap="none" strike="noStrike">
              <a:solidFill>
                <a:schemeClr val="dk1"/>
              </a:solidFill>
              <a:latin typeface="Calibri"/>
              <a:ea typeface="Calibri"/>
              <a:cs typeface="Calibri"/>
              <a:sym typeface="Calibri"/>
            </a:endParaRPr>
          </a:p>
        </p:txBody>
      </p:sp>
      <p:sp>
        <p:nvSpPr>
          <p:cNvPr id="304" name="Google Shape;304;p19"/>
          <p:cNvSpPr/>
          <p:nvPr/>
        </p:nvSpPr>
        <p:spPr>
          <a:xfrm>
            <a:off x="7141464" y="2880360"/>
            <a:ext cx="1591056" cy="1554480"/>
          </a:xfrm>
          <a:prstGeom prst="roundRect">
            <a:avLst>
              <a:gd fmla="val 4706"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7232904" y="2971800"/>
            <a:ext cx="347472" cy="347472"/>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txBox="1"/>
          <p:nvPr/>
        </p:nvSpPr>
        <p:spPr>
          <a:xfrm>
            <a:off x="7232904" y="29718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307" name="Google Shape;307;p19"/>
          <p:cNvSpPr txBox="1"/>
          <p:nvPr/>
        </p:nvSpPr>
        <p:spPr>
          <a:xfrm>
            <a:off x="7616952" y="2971800"/>
            <a:ext cx="10789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100"/>
              <a:buFont typeface="Calibri"/>
              <a:buNone/>
            </a:pPr>
            <a:r>
              <a:rPr b="1" i="0" lang="en-US" sz="1100" u="none" cap="none" strike="noStrike">
                <a:solidFill>
                  <a:srgbClr val="0A1F44"/>
                </a:solidFill>
                <a:latin typeface="Calibri"/>
                <a:ea typeface="Calibri"/>
                <a:cs typeface="Calibri"/>
                <a:sym typeface="Calibri"/>
              </a:rPr>
              <a:t>Measure</a:t>
            </a:r>
            <a:endParaRPr b="0" i="0" sz="1100" u="none" cap="none" strike="noStrike">
              <a:solidFill>
                <a:schemeClr val="dk1"/>
              </a:solidFill>
              <a:latin typeface="Calibri"/>
              <a:ea typeface="Calibri"/>
              <a:cs typeface="Calibri"/>
              <a:sym typeface="Calibri"/>
            </a:endParaRPr>
          </a:p>
        </p:txBody>
      </p:sp>
      <p:sp>
        <p:nvSpPr>
          <p:cNvPr id="308" name="Google Shape;308;p19"/>
          <p:cNvSpPr txBox="1"/>
          <p:nvPr/>
        </p:nvSpPr>
        <p:spPr>
          <a:xfrm>
            <a:off x="7232904" y="3401568"/>
            <a:ext cx="1408176"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050"/>
              <a:buFont typeface="Calibri"/>
              <a:buNone/>
            </a:pPr>
            <a:r>
              <a:rPr b="0" i="0" lang="en-US" sz="1050" u="none" cap="none" strike="noStrike">
                <a:solidFill>
                  <a:srgbClr val="1B2B4B"/>
                </a:solidFill>
                <a:latin typeface="Calibri"/>
                <a:ea typeface="Calibri"/>
                <a:cs typeface="Calibri"/>
                <a:sym typeface="Calibri"/>
              </a:rPr>
              <a:t>Throughput, latency, request loss, CPU, memory, request distribution.</a:t>
            </a:r>
            <a:endParaRPr b="0" i="0" sz="1050" u="none" cap="none" strike="noStrike">
              <a:solidFill>
                <a:schemeClr val="dk1"/>
              </a:solidFill>
              <a:latin typeface="Calibri"/>
              <a:ea typeface="Calibri"/>
              <a:cs typeface="Calibri"/>
              <a:sym typeface="Calibri"/>
            </a:endParaRPr>
          </a:p>
        </p:txBody>
      </p:sp>
      <p:sp>
        <p:nvSpPr>
          <p:cNvPr id="309" name="Google Shape;309;p19"/>
          <p:cNvSpPr txBox="1"/>
          <p:nvPr/>
        </p:nvSpPr>
        <p:spPr>
          <a:xfrm>
            <a:off x="411480" y="4526280"/>
            <a:ext cx="8321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100"/>
              <a:buFont typeface="Calibri"/>
              <a:buNone/>
            </a:pPr>
            <a:r>
              <a:rPr b="1" i="0" lang="en-US" sz="1100" u="none" cap="none" strike="noStrike">
                <a:solidFill>
                  <a:srgbClr val="1565C0"/>
                </a:solidFill>
                <a:latin typeface="Calibri"/>
                <a:ea typeface="Calibri"/>
                <a:cs typeface="Calibri"/>
                <a:sym typeface="Calibri"/>
              </a:rPr>
              <a:t>Proposed tools: </a:t>
            </a:r>
            <a:r>
              <a:rPr b="0" i="0" lang="en-US" sz="1100" u="none" cap="none" strike="noStrike">
                <a:solidFill>
                  <a:srgbClr val="1B2B4B"/>
                </a:solidFill>
                <a:latin typeface="Calibri"/>
                <a:ea typeface="Calibri"/>
                <a:cs typeface="Calibri"/>
                <a:sym typeface="Calibri"/>
              </a:rPr>
              <a:t>Docker, gRPC, Python/C++, iperf3 / ping, Linux CPU &amp; memory monitoring, Wireshark/tcpdump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314" name="Shape 314"/>
        <p:cNvGrpSpPr/>
        <p:nvPr/>
      </p:nvGrpSpPr>
      <p:grpSpPr>
        <a:xfrm>
          <a:off x="0" y="0"/>
          <a:ext cx="0" cy="0"/>
          <a:chOff x="0" y="0"/>
          <a:chExt cx="0" cy="0"/>
        </a:xfrm>
      </p:grpSpPr>
      <p:sp>
        <p:nvSpPr>
          <p:cNvPr id="315" name="Google Shape;315;p20"/>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Expected Evaluation / Comparison</a:t>
            </a:r>
            <a:endParaRPr b="0" i="0" sz="3200" u="none" cap="none" strike="noStrike">
              <a:solidFill>
                <a:schemeClr val="dk1"/>
              </a:solidFill>
              <a:latin typeface="Calibri"/>
              <a:ea typeface="Calibri"/>
              <a:cs typeface="Calibri"/>
              <a:sym typeface="Calibri"/>
            </a:endParaRPr>
          </a:p>
        </p:txBody>
      </p:sp>
      <p:sp>
        <p:nvSpPr>
          <p:cNvPr id="316" name="Google Shape;316;p20"/>
          <p:cNvSpPr txBox="1"/>
          <p:nvPr/>
        </p:nvSpPr>
        <p:spPr>
          <a:xfrm>
            <a:off x="457200" y="777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1" lang="en-US" sz="1200" u="none" cap="none" strike="noStrike">
                <a:solidFill>
                  <a:srgbClr val="1565C0"/>
                </a:solidFill>
                <a:latin typeface="Calibri"/>
                <a:ea typeface="Calibri"/>
                <a:cs typeface="Calibri"/>
                <a:sym typeface="Calibri"/>
              </a:rPr>
              <a:t>Planned comparison table - results will be filled in after experiments</a:t>
            </a:r>
            <a:endParaRPr b="0" i="0" sz="1200" u="none" cap="none" strike="noStrike">
              <a:solidFill>
                <a:schemeClr val="dk1"/>
              </a:solidFill>
              <a:latin typeface="Calibri"/>
              <a:ea typeface="Calibri"/>
              <a:cs typeface="Calibri"/>
              <a:sym typeface="Calibri"/>
            </a:endParaRPr>
          </a:p>
        </p:txBody>
      </p:sp>
      <p:graphicFrame>
        <p:nvGraphicFramePr>
          <p:cNvPr id="317" name="Google Shape;317;p20"/>
          <p:cNvGraphicFramePr/>
          <p:nvPr/>
        </p:nvGraphicFramePr>
        <p:xfrm>
          <a:off x="457200" y="1280160"/>
          <a:ext cx="3000000" cy="3000000"/>
        </p:xfrm>
        <a:graphic>
          <a:graphicData uri="http://schemas.openxmlformats.org/drawingml/2006/table">
            <a:tbl>
              <a:tblPr>
                <a:noFill/>
                <a:tableStyleId>{4ACEAFEF-23FE-47EF-A129-902EB700DEFB}</a:tableStyleId>
              </a:tblPr>
              <a:tblGrid>
                <a:gridCol w="1463050"/>
                <a:gridCol w="1371600"/>
                <a:gridCol w="1280150"/>
                <a:gridCol w="1371600"/>
                <a:gridCol w="1371600"/>
                <a:gridCol w="1371600"/>
              </a:tblGrid>
              <a:tr h="45720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Approach</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Request Distribution</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Latency</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Throughput</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CPU</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Memory</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0A1F44"/>
                    </a:solidFill>
                  </a:tcPr>
                </a:tc>
              </a:tr>
              <a:tr h="548650">
                <a:tc>
                  <a:txBody>
                    <a:bodyPr/>
                    <a:lstStyle/>
                    <a:p>
                      <a:pPr indent="0" lvl="0" marL="0" marR="0" rtl="0" algn="l">
                        <a:spcBef>
                          <a:spcPts val="0"/>
                        </a:spcBef>
                        <a:spcAft>
                          <a:spcPts val="0"/>
                        </a:spcAft>
                        <a:buClr>
                          <a:srgbClr val="0A1F44"/>
                        </a:buClr>
                        <a:buSzPts val="1200"/>
                        <a:buFont typeface="Calibri"/>
                        <a:buNone/>
                      </a:pPr>
                      <a:r>
                        <a:rPr b="1" lang="en-US" sz="1200" u="none" cap="none" strike="noStrike">
                          <a:solidFill>
                            <a:srgbClr val="0A1F44"/>
                          </a:solidFill>
                          <a:latin typeface="Calibri"/>
                          <a:ea typeface="Calibri"/>
                          <a:cs typeface="Calibri"/>
                          <a:sym typeface="Calibri"/>
                        </a:rPr>
                        <a:t>Round Robin</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E3EFFC"/>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0A1F44"/>
                        </a:buClr>
                        <a:buSzPts val="1200"/>
                        <a:buFont typeface="Calibri"/>
                        <a:buNone/>
                      </a:pPr>
                      <a:r>
                        <a:rPr b="1" lang="en-US" sz="1200" u="none" cap="none" strike="noStrike">
                          <a:solidFill>
                            <a:srgbClr val="0A1F44"/>
                          </a:solidFill>
                          <a:latin typeface="Calibri"/>
                          <a:ea typeface="Calibri"/>
                          <a:cs typeface="Calibri"/>
                          <a:sym typeface="Calibri"/>
                        </a:rPr>
                        <a:t>Random</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E3EFFC"/>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0A1F44"/>
                        </a:buClr>
                        <a:buSzPts val="1200"/>
                        <a:buFont typeface="Calibri"/>
                        <a:buNone/>
                      </a:pPr>
                      <a:r>
                        <a:rPr b="1" lang="en-US" sz="1200" u="none" cap="none" strike="noStrike">
                          <a:solidFill>
                            <a:srgbClr val="0A1F44"/>
                          </a:solidFill>
                          <a:latin typeface="Calibri"/>
                          <a:ea typeface="Calibri"/>
                          <a:cs typeface="Calibri"/>
                          <a:sym typeface="Calibri"/>
                        </a:rPr>
                        <a:t>Least Load</a:t>
                      </a:r>
                      <a:endParaRPr sz="12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E3EFFC"/>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5B6B88"/>
                        </a:buClr>
                        <a:buSzPts val="1100"/>
                        <a:buFont typeface="Calibri"/>
                        <a:buNone/>
                      </a:pPr>
                      <a:r>
                        <a:rPr i="1" lang="en-US" sz="1100" u="none" cap="none" strike="noStrike">
                          <a:solidFill>
                            <a:srgbClr val="5B6B88"/>
                          </a:solidFill>
                          <a:latin typeface="Calibri"/>
                          <a:ea typeface="Calibri"/>
                          <a:cs typeface="Calibri"/>
                          <a:sym typeface="Calibri"/>
                        </a:rPr>
                        <a:t>To be measured</a:t>
                      </a:r>
                      <a:endParaRPr sz="1100" u="none" cap="none" strike="noStrike">
                        <a:latin typeface="Calibri"/>
                        <a:ea typeface="Calibri"/>
                        <a:cs typeface="Calibri"/>
                        <a:sym typeface="Calibri"/>
                      </a:endParaRPr>
                    </a:p>
                  </a:txBody>
                  <a:tcPr marT="45725" marB="45725" marR="91450" marL="91450" anchor="ctr">
                    <a:lnL cap="flat" cmpd="sng" w="12700">
                      <a:solidFill>
                        <a:srgbClr val="D3E1F3"/>
                      </a:solidFill>
                      <a:prstDash val="solid"/>
                      <a:round/>
                      <a:headEnd len="sm" w="sm" type="none"/>
                      <a:tailEnd len="sm" w="sm" type="none"/>
                    </a:lnL>
                    <a:lnR cap="flat" cmpd="sng" w="12700">
                      <a:solidFill>
                        <a:srgbClr val="D3E1F3"/>
                      </a:solidFill>
                      <a:prstDash val="solid"/>
                      <a:round/>
                      <a:headEnd len="sm" w="sm" type="none"/>
                      <a:tailEnd len="sm" w="sm" type="none"/>
                    </a:lnR>
                    <a:lnT cap="flat" cmpd="sng" w="12700">
                      <a:solidFill>
                        <a:srgbClr val="D3E1F3"/>
                      </a:solidFill>
                      <a:prstDash val="solid"/>
                      <a:round/>
                      <a:headEnd len="sm" w="sm" type="none"/>
                      <a:tailEnd len="sm" w="sm" type="none"/>
                    </a:lnT>
                    <a:lnB cap="flat" cmpd="sng" w="12700">
                      <a:solidFill>
                        <a:srgbClr val="D3E1F3"/>
                      </a:solidFill>
                      <a:prstDash val="solid"/>
                      <a:round/>
                      <a:headEnd len="sm" w="sm" type="none"/>
                      <a:tailEnd len="sm" w="sm" type="none"/>
                    </a:lnB>
                    <a:solidFill>
                      <a:srgbClr val="FFFFFF"/>
                    </a:solidFill>
                  </a:tcPr>
                </a:tc>
              </a:tr>
            </a:tbl>
          </a:graphicData>
        </a:graphic>
      </p:graphicFrame>
      <p:sp>
        <p:nvSpPr>
          <p:cNvPr id="318" name="Google Shape;318;p20"/>
          <p:cNvSpPr/>
          <p:nvPr/>
        </p:nvSpPr>
        <p:spPr>
          <a:xfrm>
            <a:off x="457200" y="3474720"/>
            <a:ext cx="2615184" cy="1097280"/>
          </a:xfrm>
          <a:prstGeom prst="roundRect">
            <a:avLst>
              <a:gd fmla="val 6667"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txBox="1"/>
          <p:nvPr/>
        </p:nvSpPr>
        <p:spPr>
          <a:xfrm>
            <a:off x="640080" y="35661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600"/>
              <a:buFont typeface="Cambria"/>
              <a:buNone/>
            </a:pPr>
            <a:r>
              <a:rPr b="1" i="0" lang="en-US" sz="1600" u="none" cap="none" strike="noStrike">
                <a:solidFill>
                  <a:srgbClr val="1565C0"/>
                </a:solidFill>
                <a:latin typeface="Cambria"/>
                <a:ea typeface="Cambria"/>
                <a:cs typeface="Cambria"/>
                <a:sym typeface="Cambria"/>
              </a:rPr>
              <a:t>Same</a:t>
            </a:r>
            <a:endParaRPr b="0" i="0" sz="1600" u="none" cap="none" strike="noStrike">
              <a:solidFill>
                <a:schemeClr val="dk1"/>
              </a:solidFill>
              <a:latin typeface="Calibri"/>
              <a:ea typeface="Calibri"/>
              <a:cs typeface="Calibri"/>
              <a:sym typeface="Calibri"/>
            </a:endParaRPr>
          </a:p>
        </p:txBody>
      </p:sp>
      <p:sp>
        <p:nvSpPr>
          <p:cNvPr id="320" name="Google Shape;320;p20"/>
          <p:cNvSpPr txBox="1"/>
          <p:nvPr/>
        </p:nvSpPr>
        <p:spPr>
          <a:xfrm>
            <a:off x="640080" y="3913632"/>
            <a:ext cx="22860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0" lang="en-US" sz="1200" u="none" cap="none" strike="noStrike">
                <a:solidFill>
                  <a:srgbClr val="1B2B4B"/>
                </a:solidFill>
                <a:latin typeface="Calibri"/>
                <a:ea typeface="Calibri"/>
                <a:cs typeface="Calibri"/>
                <a:sym typeface="Calibri"/>
              </a:rPr>
              <a:t>traffic pattern, hardware and number of instances</a:t>
            </a:r>
            <a:endParaRPr b="0" i="0" sz="1200" u="none" cap="none" strike="noStrike">
              <a:solidFill>
                <a:schemeClr val="dk1"/>
              </a:solidFill>
              <a:latin typeface="Calibri"/>
              <a:ea typeface="Calibri"/>
              <a:cs typeface="Calibri"/>
              <a:sym typeface="Calibri"/>
            </a:endParaRPr>
          </a:p>
        </p:txBody>
      </p:sp>
      <p:sp>
        <p:nvSpPr>
          <p:cNvPr id="321" name="Google Shape;321;p20"/>
          <p:cNvSpPr/>
          <p:nvPr/>
        </p:nvSpPr>
        <p:spPr>
          <a:xfrm>
            <a:off x="3264408" y="3474720"/>
            <a:ext cx="2615184" cy="1097280"/>
          </a:xfrm>
          <a:prstGeom prst="roundRect">
            <a:avLst>
              <a:gd fmla="val 6667"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0"/>
          <p:cNvSpPr txBox="1"/>
          <p:nvPr/>
        </p:nvSpPr>
        <p:spPr>
          <a:xfrm>
            <a:off x="3447288" y="35661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600"/>
              <a:buFont typeface="Cambria"/>
              <a:buNone/>
            </a:pPr>
            <a:r>
              <a:rPr b="1" i="0" lang="en-US" sz="1600" u="none" cap="none" strike="noStrike">
                <a:solidFill>
                  <a:srgbClr val="1565C0"/>
                </a:solidFill>
                <a:latin typeface="Cambria"/>
                <a:ea typeface="Cambria"/>
                <a:cs typeface="Cambria"/>
                <a:sym typeface="Cambria"/>
              </a:rPr>
              <a:t>Different</a:t>
            </a:r>
            <a:endParaRPr b="0" i="0" sz="1600" u="none" cap="none" strike="noStrike">
              <a:solidFill>
                <a:schemeClr val="dk1"/>
              </a:solidFill>
              <a:latin typeface="Calibri"/>
              <a:ea typeface="Calibri"/>
              <a:cs typeface="Calibri"/>
              <a:sym typeface="Calibri"/>
            </a:endParaRPr>
          </a:p>
        </p:txBody>
      </p:sp>
      <p:sp>
        <p:nvSpPr>
          <p:cNvPr id="323" name="Google Shape;323;p20"/>
          <p:cNvSpPr txBox="1"/>
          <p:nvPr/>
        </p:nvSpPr>
        <p:spPr>
          <a:xfrm>
            <a:off x="3447288" y="3913632"/>
            <a:ext cx="22860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0" lang="en-US" sz="1200" u="none" cap="none" strike="noStrike">
                <a:solidFill>
                  <a:srgbClr val="1B2B4B"/>
                </a:solidFill>
                <a:latin typeface="Calibri"/>
                <a:ea typeface="Calibri"/>
                <a:cs typeface="Calibri"/>
                <a:sym typeface="Calibri"/>
              </a:rPr>
              <a:t>only the load-balancing method</a:t>
            </a:r>
            <a:endParaRPr b="0" i="0" sz="1200" u="none" cap="none" strike="noStrike">
              <a:solidFill>
                <a:schemeClr val="dk1"/>
              </a:solidFill>
              <a:latin typeface="Calibri"/>
              <a:ea typeface="Calibri"/>
              <a:cs typeface="Calibri"/>
              <a:sym typeface="Calibri"/>
            </a:endParaRPr>
          </a:p>
        </p:txBody>
      </p:sp>
      <p:sp>
        <p:nvSpPr>
          <p:cNvPr id="324" name="Google Shape;324;p20"/>
          <p:cNvSpPr/>
          <p:nvPr/>
        </p:nvSpPr>
        <p:spPr>
          <a:xfrm>
            <a:off x="6071616" y="3474720"/>
            <a:ext cx="2615184" cy="1097280"/>
          </a:xfrm>
          <a:prstGeom prst="roundRect">
            <a:avLst>
              <a:gd fmla="val 6667"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0"/>
          <p:cNvSpPr txBox="1"/>
          <p:nvPr/>
        </p:nvSpPr>
        <p:spPr>
          <a:xfrm>
            <a:off x="6254496" y="356616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600"/>
              <a:buFont typeface="Cambria"/>
              <a:buNone/>
            </a:pPr>
            <a:r>
              <a:rPr b="1" i="0" lang="en-US" sz="1600" u="none" cap="none" strike="noStrike">
                <a:solidFill>
                  <a:srgbClr val="1565C0"/>
                </a:solidFill>
                <a:latin typeface="Cambria"/>
                <a:ea typeface="Cambria"/>
                <a:cs typeface="Cambria"/>
                <a:sym typeface="Cambria"/>
              </a:rPr>
              <a:t>Output</a:t>
            </a:r>
            <a:endParaRPr b="0" i="0" sz="1600" u="none" cap="none" strike="noStrike">
              <a:solidFill>
                <a:schemeClr val="dk1"/>
              </a:solidFill>
              <a:latin typeface="Calibri"/>
              <a:ea typeface="Calibri"/>
              <a:cs typeface="Calibri"/>
              <a:sym typeface="Calibri"/>
            </a:endParaRPr>
          </a:p>
        </p:txBody>
      </p:sp>
      <p:sp>
        <p:nvSpPr>
          <p:cNvPr id="326" name="Google Shape;326;p20"/>
          <p:cNvSpPr txBox="1"/>
          <p:nvPr/>
        </p:nvSpPr>
        <p:spPr>
          <a:xfrm>
            <a:off x="6254496" y="3913632"/>
            <a:ext cx="22860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B4B"/>
              </a:buClr>
              <a:buSzPts val="1200"/>
              <a:buFont typeface="Calibri"/>
              <a:buNone/>
            </a:pPr>
            <a:r>
              <a:rPr b="0" i="0" lang="en-US" sz="1200" u="none" cap="none" strike="noStrike">
                <a:solidFill>
                  <a:srgbClr val="1B2B4B"/>
                </a:solidFill>
                <a:latin typeface="Calibri"/>
                <a:ea typeface="Calibri"/>
                <a:cs typeface="Calibri"/>
                <a:sym typeface="Calibri"/>
              </a:rPr>
              <a:t>measured values and observations from real runs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F44"/>
        </a:solidFill>
      </p:bgPr>
    </p:bg>
    <p:spTree>
      <p:nvGrpSpPr>
        <p:cNvPr id="331" name="Shape 331"/>
        <p:cNvGrpSpPr/>
        <p:nvPr/>
      </p:nvGrpSpPr>
      <p:grpSpPr>
        <a:xfrm>
          <a:off x="0" y="0"/>
          <a:ext cx="0" cy="0"/>
          <a:chOff x="0" y="0"/>
          <a:chExt cx="0" cy="0"/>
        </a:xfrm>
      </p:grpSpPr>
      <p:sp>
        <p:nvSpPr>
          <p:cNvPr id="332" name="Google Shape;332;p21"/>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Conclusion</a:t>
            </a:r>
            <a:endParaRPr b="0" i="0" sz="3200" u="none" cap="none" strike="noStrike">
              <a:solidFill>
                <a:schemeClr val="dk1"/>
              </a:solidFill>
              <a:latin typeface="Calibri"/>
              <a:ea typeface="Calibri"/>
              <a:cs typeface="Calibri"/>
              <a:sym typeface="Calibri"/>
            </a:endParaRPr>
          </a:p>
        </p:txBody>
      </p:sp>
      <p:sp>
        <p:nvSpPr>
          <p:cNvPr id="333" name="Google Shape;333;p21"/>
          <p:cNvSpPr/>
          <p:nvPr/>
        </p:nvSpPr>
        <p:spPr>
          <a:xfrm>
            <a:off x="457200" y="10058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1"/>
          <p:cNvSpPr/>
          <p:nvPr/>
        </p:nvSpPr>
        <p:spPr>
          <a:xfrm>
            <a:off x="566928" y="11887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1"/>
          <p:cNvSpPr txBox="1"/>
          <p:nvPr/>
        </p:nvSpPr>
        <p:spPr>
          <a:xfrm>
            <a:off x="566928"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36" name="Google Shape;336;p21"/>
          <p:cNvSpPr txBox="1"/>
          <p:nvPr/>
        </p:nvSpPr>
        <p:spPr>
          <a:xfrm>
            <a:off x="1097280" y="10058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Software-based 5G Core using SBA and gRPC</a:t>
            </a:r>
            <a:endParaRPr b="0" i="0" sz="1200" u="none" cap="none" strike="noStrike">
              <a:solidFill>
                <a:schemeClr val="dk1"/>
              </a:solidFill>
              <a:latin typeface="Calibri"/>
              <a:ea typeface="Calibri"/>
              <a:cs typeface="Calibri"/>
              <a:sym typeface="Calibri"/>
            </a:endParaRPr>
          </a:p>
        </p:txBody>
      </p:sp>
      <p:sp>
        <p:nvSpPr>
          <p:cNvPr id="337" name="Google Shape;337;p21"/>
          <p:cNvSpPr/>
          <p:nvPr/>
        </p:nvSpPr>
        <p:spPr>
          <a:xfrm>
            <a:off x="4663440" y="10058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1"/>
          <p:cNvSpPr/>
          <p:nvPr/>
        </p:nvSpPr>
        <p:spPr>
          <a:xfrm>
            <a:off x="4773168" y="11887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1"/>
          <p:cNvSpPr txBox="1"/>
          <p:nvPr/>
        </p:nvSpPr>
        <p:spPr>
          <a:xfrm>
            <a:off x="4773168"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40" name="Google Shape;340;p21"/>
          <p:cNvSpPr txBox="1"/>
          <p:nvPr/>
        </p:nvSpPr>
        <p:spPr>
          <a:xfrm>
            <a:off x="5303520" y="10058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Multiple instances of selected Network Functions</a:t>
            </a:r>
            <a:endParaRPr b="0" i="0" sz="1200" u="none" cap="none" strike="noStrike">
              <a:solidFill>
                <a:schemeClr val="dk1"/>
              </a:solidFill>
              <a:latin typeface="Calibri"/>
              <a:ea typeface="Calibri"/>
              <a:cs typeface="Calibri"/>
              <a:sym typeface="Calibri"/>
            </a:endParaRPr>
          </a:p>
        </p:txBody>
      </p:sp>
      <p:sp>
        <p:nvSpPr>
          <p:cNvPr id="341" name="Google Shape;341;p21"/>
          <p:cNvSpPr/>
          <p:nvPr/>
        </p:nvSpPr>
        <p:spPr>
          <a:xfrm>
            <a:off x="457200" y="19202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1"/>
          <p:cNvSpPr/>
          <p:nvPr/>
        </p:nvSpPr>
        <p:spPr>
          <a:xfrm>
            <a:off x="566928" y="21031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1"/>
          <p:cNvSpPr txBox="1"/>
          <p:nvPr/>
        </p:nvSpPr>
        <p:spPr>
          <a:xfrm>
            <a:off x="566928" y="2103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44" name="Google Shape;344;p21"/>
          <p:cNvSpPr txBox="1"/>
          <p:nvPr/>
        </p:nvSpPr>
        <p:spPr>
          <a:xfrm>
            <a:off x="1097280" y="19202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Round Robin, Random and Least Load will be evaluated</a:t>
            </a:r>
            <a:endParaRPr b="0" i="0" sz="1200" u="none" cap="none" strike="noStrike">
              <a:solidFill>
                <a:schemeClr val="dk1"/>
              </a:solidFill>
              <a:latin typeface="Calibri"/>
              <a:ea typeface="Calibri"/>
              <a:cs typeface="Calibri"/>
              <a:sym typeface="Calibri"/>
            </a:endParaRPr>
          </a:p>
        </p:txBody>
      </p:sp>
      <p:sp>
        <p:nvSpPr>
          <p:cNvPr id="345" name="Google Shape;345;p21"/>
          <p:cNvSpPr/>
          <p:nvPr/>
        </p:nvSpPr>
        <p:spPr>
          <a:xfrm>
            <a:off x="4663440" y="19202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1"/>
          <p:cNvSpPr/>
          <p:nvPr/>
        </p:nvSpPr>
        <p:spPr>
          <a:xfrm>
            <a:off x="4773168" y="21031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1"/>
          <p:cNvSpPr txBox="1"/>
          <p:nvPr/>
        </p:nvSpPr>
        <p:spPr>
          <a:xfrm>
            <a:off x="4773168" y="2103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48" name="Google Shape;348;p21"/>
          <p:cNvSpPr txBox="1"/>
          <p:nvPr/>
        </p:nvSpPr>
        <p:spPr>
          <a:xfrm>
            <a:off x="5303520" y="19202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Compared using throughput, latency, request loss, CPU, memory and request distribution</a:t>
            </a:r>
            <a:endParaRPr b="0" i="0" sz="1200" u="none" cap="none" strike="noStrike">
              <a:solidFill>
                <a:schemeClr val="dk1"/>
              </a:solidFill>
              <a:latin typeface="Calibri"/>
              <a:ea typeface="Calibri"/>
              <a:cs typeface="Calibri"/>
              <a:sym typeface="Calibri"/>
            </a:endParaRPr>
          </a:p>
        </p:txBody>
      </p:sp>
      <p:sp>
        <p:nvSpPr>
          <p:cNvPr id="349" name="Google Shape;349;p21"/>
          <p:cNvSpPr/>
          <p:nvPr/>
        </p:nvSpPr>
        <p:spPr>
          <a:xfrm>
            <a:off x="457200" y="28346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1"/>
          <p:cNvSpPr/>
          <p:nvPr/>
        </p:nvSpPr>
        <p:spPr>
          <a:xfrm>
            <a:off x="566928" y="30175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1"/>
          <p:cNvSpPr txBox="1"/>
          <p:nvPr/>
        </p:nvSpPr>
        <p:spPr>
          <a:xfrm>
            <a:off x="566928"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352" name="Google Shape;352;p21"/>
          <p:cNvSpPr txBox="1"/>
          <p:nvPr/>
        </p:nvSpPr>
        <p:spPr>
          <a:xfrm>
            <a:off x="1097280" y="28346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Aim: understand effect of load balancing on performance and scalability</a:t>
            </a:r>
            <a:endParaRPr b="0" i="0" sz="1200" u="none" cap="none" strike="noStrike">
              <a:solidFill>
                <a:schemeClr val="dk1"/>
              </a:solidFill>
              <a:latin typeface="Calibri"/>
              <a:ea typeface="Calibri"/>
              <a:cs typeface="Calibri"/>
              <a:sym typeface="Calibri"/>
            </a:endParaRPr>
          </a:p>
        </p:txBody>
      </p:sp>
      <p:sp>
        <p:nvSpPr>
          <p:cNvPr id="353" name="Google Shape;353;p21"/>
          <p:cNvSpPr/>
          <p:nvPr/>
        </p:nvSpPr>
        <p:spPr>
          <a:xfrm>
            <a:off x="4663440" y="2834640"/>
            <a:ext cx="4023360" cy="777240"/>
          </a:xfrm>
          <a:prstGeom prst="roundRect">
            <a:avLst>
              <a:gd fmla="val 9412" name="adj"/>
            </a:avLst>
          </a:prstGeom>
          <a:solidFill>
            <a:srgbClr val="13336B"/>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1"/>
          <p:cNvSpPr/>
          <p:nvPr/>
        </p:nvSpPr>
        <p:spPr>
          <a:xfrm>
            <a:off x="4773168" y="3017520"/>
            <a:ext cx="411480" cy="411480"/>
          </a:xfrm>
          <a:prstGeom prst="ellipse">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1"/>
          <p:cNvSpPr txBox="1"/>
          <p:nvPr/>
        </p:nvSpPr>
        <p:spPr>
          <a:xfrm>
            <a:off x="4773168"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356" name="Google Shape;356;p21"/>
          <p:cNvSpPr txBox="1"/>
          <p:nvPr/>
        </p:nvSpPr>
        <p:spPr>
          <a:xfrm>
            <a:off x="5303520" y="2834640"/>
            <a:ext cx="3291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Final conclusions will be based on experimental measurements</a:t>
            </a:r>
            <a:endParaRPr b="0" i="0" sz="1200" u="none" cap="none" strike="noStrike">
              <a:solidFill>
                <a:schemeClr val="dk1"/>
              </a:solidFill>
              <a:latin typeface="Calibri"/>
              <a:ea typeface="Calibri"/>
              <a:cs typeface="Calibri"/>
              <a:sym typeface="Calibri"/>
            </a:endParaRPr>
          </a:p>
        </p:txBody>
      </p:sp>
      <p:sp>
        <p:nvSpPr>
          <p:cNvPr id="357" name="Google Shape;357;p21"/>
          <p:cNvSpPr/>
          <p:nvPr/>
        </p:nvSpPr>
        <p:spPr>
          <a:xfrm>
            <a:off x="457200" y="3886200"/>
            <a:ext cx="8229600" cy="822960"/>
          </a:xfrm>
          <a:prstGeom prst="roundRect">
            <a:avLst>
              <a:gd fmla="val 8889" name="adj"/>
            </a:avLst>
          </a:prstGeom>
          <a:solidFill>
            <a:srgbClr val="29B6F6"/>
          </a:solidFill>
          <a:ln cap="flat" cmpd="sng" w="12700">
            <a:solidFill>
              <a:srgbClr val="29B6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1"/>
          <p:cNvSpPr txBox="1"/>
          <p:nvPr/>
        </p:nvSpPr>
        <p:spPr>
          <a:xfrm>
            <a:off x="640080" y="3886200"/>
            <a:ext cx="78638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F44"/>
              </a:buClr>
              <a:buSzPts val="1500"/>
              <a:buFont typeface="Cambria"/>
              <a:buNone/>
            </a:pPr>
            <a:r>
              <a:rPr b="1" i="0" lang="en-US" sz="1500" u="none" cap="none" strike="noStrike">
                <a:solidFill>
                  <a:srgbClr val="0A1F44"/>
                </a:solidFill>
                <a:latin typeface="Cambria"/>
                <a:ea typeface="Cambria"/>
                <a:cs typeface="Cambria"/>
                <a:sym typeface="Cambria"/>
              </a:rPr>
              <a:t>The project combines 5G Core networking, service-based communication, distributed systems and performance evaluation.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363" name="Shape 363"/>
        <p:cNvGrpSpPr/>
        <p:nvPr/>
      </p:nvGrpSpPr>
      <p:grpSpPr>
        <a:xfrm>
          <a:off x="0" y="0"/>
          <a:ext cx="0" cy="0"/>
          <a:chOff x="0" y="0"/>
          <a:chExt cx="0" cy="0"/>
        </a:xfrm>
      </p:grpSpPr>
      <p:sp>
        <p:nvSpPr>
          <p:cNvPr id="364" name="Google Shape;364;p22"/>
          <p:cNvSpPr txBox="1"/>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3200"/>
              <a:buFont typeface="Cambria"/>
              <a:buNone/>
            </a:pPr>
            <a:r>
              <a:rPr b="1" i="0" lang="en-US" sz="3200" u="none" cap="none" strike="noStrike">
                <a:solidFill>
                  <a:srgbClr val="0A1F44"/>
                </a:solidFill>
                <a:latin typeface="Cambria"/>
                <a:ea typeface="Cambria"/>
                <a:cs typeface="Cambria"/>
                <a:sym typeface="Cambria"/>
              </a:rPr>
              <a:t>References</a:t>
            </a:r>
            <a:endParaRPr b="0" i="0" sz="3200" u="none" cap="none" strike="noStrike">
              <a:solidFill>
                <a:schemeClr val="dk1"/>
              </a:solidFill>
              <a:latin typeface="Calibri"/>
              <a:ea typeface="Calibri"/>
              <a:cs typeface="Calibri"/>
              <a:sym typeface="Calibri"/>
            </a:endParaRPr>
          </a:p>
        </p:txBody>
      </p:sp>
      <p:sp>
        <p:nvSpPr>
          <p:cNvPr id="365" name="Google Shape;365;p22"/>
          <p:cNvSpPr/>
          <p:nvPr/>
        </p:nvSpPr>
        <p:spPr>
          <a:xfrm>
            <a:off x="457200" y="1005840"/>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594360" y="1124712"/>
            <a:ext cx="420624" cy="420624"/>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2"/>
          <p:cNvSpPr txBox="1"/>
          <p:nvPr/>
        </p:nvSpPr>
        <p:spPr>
          <a:xfrm>
            <a:off x="594360" y="112471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68" name="Google Shape;368;p22"/>
          <p:cNvSpPr txBox="1"/>
          <p:nvPr/>
        </p:nvSpPr>
        <p:spPr>
          <a:xfrm>
            <a:off x="1234440" y="1069848"/>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369" name="Google Shape;369;p22"/>
          <p:cNvSpPr txBox="1"/>
          <p:nvPr/>
        </p:nvSpPr>
        <p:spPr>
          <a:xfrm>
            <a:off x="1234440" y="1353312"/>
            <a:ext cx="7132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0" name="Google Shape;370;p22"/>
          <p:cNvSpPr/>
          <p:nvPr/>
        </p:nvSpPr>
        <p:spPr>
          <a:xfrm>
            <a:off x="457200" y="1773936"/>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594360" y="1892808"/>
            <a:ext cx="420624" cy="420624"/>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txBox="1"/>
          <p:nvPr/>
        </p:nvSpPr>
        <p:spPr>
          <a:xfrm>
            <a:off x="594360" y="189280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73" name="Google Shape;373;p22"/>
          <p:cNvSpPr txBox="1"/>
          <p:nvPr/>
        </p:nvSpPr>
        <p:spPr>
          <a:xfrm>
            <a:off x="1234440" y="1069844"/>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3GPP TS 23.501 - System Architecture for the 5G System</a:t>
            </a:r>
            <a:endParaRPr b="0" i="0" sz="1400" u="none" cap="none" strike="noStrike">
              <a:solidFill>
                <a:schemeClr val="dk1"/>
              </a:solidFill>
              <a:latin typeface="Calibri"/>
              <a:ea typeface="Calibri"/>
              <a:cs typeface="Calibri"/>
              <a:sym typeface="Calibri"/>
            </a:endParaRPr>
          </a:p>
        </p:txBody>
      </p:sp>
      <p:sp>
        <p:nvSpPr>
          <p:cNvPr id="374" name="Google Shape;374;p22"/>
          <p:cNvSpPr txBox="1"/>
          <p:nvPr/>
        </p:nvSpPr>
        <p:spPr>
          <a:xfrm>
            <a:off x="1234440" y="1353308"/>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3GPP Technical Specification</a:t>
            </a:r>
            <a:endParaRPr b="0" i="0" sz="1200" u="none" cap="none" strike="noStrike">
              <a:solidFill>
                <a:schemeClr val="dk1"/>
              </a:solidFill>
              <a:latin typeface="Calibri"/>
              <a:ea typeface="Calibri"/>
              <a:cs typeface="Calibri"/>
              <a:sym typeface="Calibri"/>
            </a:endParaRPr>
          </a:p>
        </p:txBody>
      </p:sp>
      <p:sp>
        <p:nvSpPr>
          <p:cNvPr id="375" name="Google Shape;375;p22"/>
          <p:cNvSpPr/>
          <p:nvPr/>
        </p:nvSpPr>
        <p:spPr>
          <a:xfrm>
            <a:off x="457200" y="2542032"/>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p:nvPr/>
        </p:nvSpPr>
        <p:spPr>
          <a:xfrm>
            <a:off x="594360" y="2660904"/>
            <a:ext cx="420624" cy="420624"/>
          </a:xfrm>
          <a:prstGeom prst="ellipse">
            <a:avLst/>
          </a:prstGeom>
          <a:solidFill>
            <a:srgbClr val="0A1F44"/>
          </a:solidFill>
          <a:ln cap="flat" cmpd="sng" w="12700">
            <a:solidFill>
              <a:srgbClr val="0A1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txBox="1"/>
          <p:nvPr/>
        </p:nvSpPr>
        <p:spPr>
          <a:xfrm>
            <a:off x="594360" y="266090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78" name="Google Shape;378;p22"/>
          <p:cNvSpPr txBox="1"/>
          <p:nvPr/>
        </p:nvSpPr>
        <p:spPr>
          <a:xfrm>
            <a:off x="1234440" y="1837940"/>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3GPP TS 23.502 - Procedures for the 5G System</a:t>
            </a:r>
            <a:endParaRPr b="0" i="0" sz="1400" u="none" cap="none" strike="noStrike">
              <a:solidFill>
                <a:schemeClr val="dk1"/>
              </a:solidFill>
              <a:latin typeface="Calibri"/>
              <a:ea typeface="Calibri"/>
              <a:cs typeface="Calibri"/>
              <a:sym typeface="Calibri"/>
            </a:endParaRPr>
          </a:p>
        </p:txBody>
      </p:sp>
      <p:sp>
        <p:nvSpPr>
          <p:cNvPr id="379" name="Google Shape;379;p22"/>
          <p:cNvSpPr txBox="1"/>
          <p:nvPr/>
        </p:nvSpPr>
        <p:spPr>
          <a:xfrm>
            <a:off x="1234440" y="2121404"/>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3GPP Technical Specification</a:t>
            </a:r>
            <a:endParaRPr b="0" i="0" sz="1200" u="none" cap="none" strike="noStrike">
              <a:solidFill>
                <a:schemeClr val="dk1"/>
              </a:solidFill>
              <a:latin typeface="Calibri"/>
              <a:ea typeface="Calibri"/>
              <a:cs typeface="Calibri"/>
              <a:sym typeface="Calibri"/>
            </a:endParaRPr>
          </a:p>
        </p:txBody>
      </p:sp>
      <p:sp>
        <p:nvSpPr>
          <p:cNvPr id="380" name="Google Shape;380;p22"/>
          <p:cNvSpPr/>
          <p:nvPr/>
        </p:nvSpPr>
        <p:spPr>
          <a:xfrm>
            <a:off x="457200" y="3310128"/>
            <a:ext cx="8229600" cy="658368"/>
          </a:xfrm>
          <a:prstGeom prst="roundRect">
            <a:avLst>
              <a:gd fmla="val 11111" name="adj"/>
            </a:avLst>
          </a:prstGeom>
          <a:solidFill>
            <a:srgbClr val="FFFFFF"/>
          </a:solidFill>
          <a:ln cap="flat" cmpd="sng" w="12700">
            <a:solidFill>
              <a:srgbClr val="D3E1F3"/>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594360" y="3429000"/>
            <a:ext cx="420624" cy="420624"/>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txBox="1"/>
          <p:nvPr/>
        </p:nvSpPr>
        <p:spPr>
          <a:xfrm>
            <a:off x="594360" y="34290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83" name="Google Shape;383;p22"/>
          <p:cNvSpPr txBox="1"/>
          <p:nvPr/>
        </p:nvSpPr>
        <p:spPr>
          <a:xfrm>
            <a:off x="1234440" y="2606036"/>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gRPC Official Documentation</a:t>
            </a:r>
            <a:endParaRPr b="0" i="0" sz="1400" u="none" cap="none" strike="noStrike">
              <a:solidFill>
                <a:schemeClr val="dk1"/>
              </a:solidFill>
              <a:latin typeface="Calibri"/>
              <a:ea typeface="Calibri"/>
              <a:cs typeface="Calibri"/>
              <a:sym typeface="Calibri"/>
            </a:endParaRPr>
          </a:p>
        </p:txBody>
      </p:sp>
      <p:sp>
        <p:nvSpPr>
          <p:cNvPr id="384" name="Google Shape;384;p22"/>
          <p:cNvSpPr txBox="1"/>
          <p:nvPr/>
        </p:nvSpPr>
        <p:spPr>
          <a:xfrm>
            <a:off x="1234440" y="2889500"/>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https://grpc.io/</a:t>
            </a:r>
            <a:endParaRPr b="0" i="0" sz="1200" u="none" cap="none" strike="noStrike">
              <a:solidFill>
                <a:schemeClr val="dk1"/>
              </a:solidFill>
              <a:latin typeface="Calibri"/>
              <a:ea typeface="Calibri"/>
              <a:cs typeface="Calibri"/>
              <a:sym typeface="Calibri"/>
            </a:endParaRPr>
          </a:p>
        </p:txBody>
      </p:sp>
      <p:sp>
        <p:nvSpPr>
          <p:cNvPr id="385" name="Google Shape;385;p22"/>
          <p:cNvSpPr txBox="1"/>
          <p:nvPr/>
        </p:nvSpPr>
        <p:spPr>
          <a:xfrm>
            <a:off x="1234440" y="3374132"/>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F44"/>
              </a:buClr>
              <a:buSzPts val="1400"/>
              <a:buFont typeface="Calibri"/>
              <a:buNone/>
            </a:pPr>
            <a:r>
              <a:rPr b="1" i="0" lang="en-US" sz="1400" u="none" cap="none" strike="noStrike">
                <a:solidFill>
                  <a:srgbClr val="0A1F44"/>
                </a:solidFill>
                <a:latin typeface="Calibri"/>
                <a:ea typeface="Calibri"/>
                <a:cs typeface="Calibri"/>
                <a:sym typeface="Calibri"/>
              </a:rPr>
              <a:t>Open5GS Documentation / Project</a:t>
            </a:r>
            <a:endParaRPr b="0" i="0" sz="1400" u="none" cap="none" strike="noStrike">
              <a:solidFill>
                <a:schemeClr val="dk1"/>
              </a:solidFill>
              <a:latin typeface="Calibri"/>
              <a:ea typeface="Calibri"/>
              <a:cs typeface="Calibri"/>
              <a:sym typeface="Calibri"/>
            </a:endParaRPr>
          </a:p>
        </p:txBody>
      </p:sp>
      <p:sp>
        <p:nvSpPr>
          <p:cNvPr id="386" name="Google Shape;386;p22"/>
          <p:cNvSpPr txBox="1"/>
          <p:nvPr/>
        </p:nvSpPr>
        <p:spPr>
          <a:xfrm>
            <a:off x="1234440" y="3657596"/>
            <a:ext cx="7132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0" i="0" lang="en-US" sz="1200" u="none" cap="none" strike="noStrike">
                <a:solidFill>
                  <a:srgbClr val="1565C0"/>
                </a:solidFill>
                <a:latin typeface="Calibri"/>
                <a:ea typeface="Calibri"/>
                <a:cs typeface="Calibri"/>
                <a:sym typeface="Calibri"/>
              </a:rPr>
              <a:t>https://open5gs.org/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